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73" r:id="rId3"/>
    <p:sldId id="257" r:id="rId4"/>
    <p:sldId id="275" r:id="rId5"/>
    <p:sldId id="276" r:id="rId6"/>
    <p:sldId id="274" r:id="rId7"/>
    <p:sldId id="267" r:id="rId8"/>
    <p:sldId id="268" r:id="rId9"/>
    <p:sldId id="269" r:id="rId10"/>
    <p:sldId id="283" r:id="rId11"/>
    <p:sldId id="272" r:id="rId12"/>
    <p:sldId id="278" r:id="rId13"/>
    <p:sldId id="279" r:id="rId14"/>
    <p:sldId id="280" r:id="rId15"/>
    <p:sldId id="281" r:id="rId16"/>
    <p:sldId id="271" r:id="rId17"/>
    <p:sldId id="277"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9F4A87-3434-4665-955C-CFABC72CDD72}" v="57" dt="2025-11-17T08:40:16.469"/>
  </p1510:revLst>
</p1510:revInfo>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78" d="100"/>
          <a:sy n="78" d="100"/>
        </p:scale>
        <p:origin x="878" y="62"/>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ma sharma" userId="b2f98e1a3d769a1b" providerId="LiveId" clId="{B219A0B3-5113-49B0-91C2-A4B878C8EC23}"/>
    <pc:docChg chg="custSel addSld delSld modSld sldOrd">
      <pc:chgData name="anima sharma" userId="b2f98e1a3d769a1b" providerId="LiveId" clId="{B219A0B3-5113-49B0-91C2-A4B878C8EC23}" dt="2025-11-17T08:43:45.238" v="1339" actId="20577"/>
      <pc:docMkLst>
        <pc:docMk/>
      </pc:docMkLst>
      <pc:sldChg chg="addSp delSp modSp mod">
        <pc:chgData name="anima sharma" userId="b2f98e1a3d769a1b" providerId="LiveId" clId="{B219A0B3-5113-49B0-91C2-A4B878C8EC23}" dt="2025-11-17T08:36:33.345" v="1221" actId="14100"/>
        <pc:sldMkLst>
          <pc:docMk/>
          <pc:sldMk cId="2824736735" sldId="269"/>
        </pc:sldMkLst>
        <pc:spChg chg="mod">
          <ac:chgData name="anima sharma" userId="b2f98e1a3d769a1b" providerId="LiveId" clId="{B219A0B3-5113-49B0-91C2-A4B878C8EC23}" dt="2025-11-17T05:23:01.620" v="833" actId="207"/>
          <ac:spMkLst>
            <pc:docMk/>
            <pc:sldMk cId="2824736735" sldId="269"/>
            <ac:spMk id="6" creationId="{1E41A815-5E1D-3E62-8808-48CE76D8093E}"/>
          </ac:spMkLst>
        </pc:spChg>
        <pc:spChg chg="del">
          <ac:chgData name="anima sharma" userId="b2f98e1a3d769a1b" providerId="LiveId" clId="{B219A0B3-5113-49B0-91C2-A4B878C8EC23}" dt="2025-11-17T08:36:09.804" v="1217" actId="931"/>
          <ac:spMkLst>
            <pc:docMk/>
            <pc:sldMk cId="2824736735" sldId="269"/>
            <ac:spMk id="10" creationId="{ECB4F625-2E14-F2D9-EDDF-FD70ED6A8E75}"/>
          </ac:spMkLst>
        </pc:spChg>
        <pc:picChg chg="add mod">
          <ac:chgData name="anima sharma" userId="b2f98e1a3d769a1b" providerId="LiveId" clId="{B219A0B3-5113-49B0-91C2-A4B878C8EC23}" dt="2025-11-17T08:36:33.345" v="1221" actId="14100"/>
          <ac:picMkLst>
            <pc:docMk/>
            <pc:sldMk cId="2824736735" sldId="269"/>
            <ac:picMk id="4" creationId="{76024B36-3DD0-107D-1EBA-4EAF6F06FE86}"/>
          </ac:picMkLst>
        </pc:picChg>
      </pc:sldChg>
      <pc:sldChg chg="del">
        <pc:chgData name="anima sharma" userId="b2f98e1a3d769a1b" providerId="LiveId" clId="{B219A0B3-5113-49B0-91C2-A4B878C8EC23}" dt="2025-11-17T04:34:03.588" v="0" actId="2696"/>
        <pc:sldMkLst>
          <pc:docMk/>
          <pc:sldMk cId="929049494" sldId="270"/>
        </pc:sldMkLst>
      </pc:sldChg>
      <pc:sldChg chg="modSp mod">
        <pc:chgData name="anima sharma" userId="b2f98e1a3d769a1b" providerId="LiveId" clId="{B219A0B3-5113-49B0-91C2-A4B878C8EC23}" dt="2025-11-17T06:38:36.483" v="1157" actId="20577"/>
        <pc:sldMkLst>
          <pc:docMk/>
          <pc:sldMk cId="55295348" sldId="271"/>
        </pc:sldMkLst>
        <pc:spChg chg="mod">
          <ac:chgData name="anima sharma" userId="b2f98e1a3d769a1b" providerId="LiveId" clId="{B219A0B3-5113-49B0-91C2-A4B878C8EC23}" dt="2025-11-17T06:38:36.483" v="1157" actId="20577"/>
          <ac:spMkLst>
            <pc:docMk/>
            <pc:sldMk cId="55295348" sldId="271"/>
            <ac:spMk id="3" creationId="{F34E522C-A020-671D-91AB-8B2003C0B6D7}"/>
          </ac:spMkLst>
        </pc:spChg>
      </pc:sldChg>
      <pc:sldChg chg="addSp delSp modSp mod chgLayout">
        <pc:chgData name="anima sharma" userId="b2f98e1a3d769a1b" providerId="LiveId" clId="{B219A0B3-5113-49B0-91C2-A4B878C8EC23}" dt="2025-11-17T06:21:27.917" v="1033" actId="207"/>
        <pc:sldMkLst>
          <pc:docMk/>
          <pc:sldMk cId="123191421" sldId="273"/>
        </pc:sldMkLst>
        <pc:spChg chg="mod ord">
          <ac:chgData name="anima sharma" userId="b2f98e1a3d769a1b" providerId="LiveId" clId="{B219A0B3-5113-49B0-91C2-A4B878C8EC23}" dt="2025-11-17T06:20:50.353" v="1014" actId="6264"/>
          <ac:spMkLst>
            <pc:docMk/>
            <pc:sldMk cId="123191421" sldId="273"/>
            <ac:spMk id="2" creationId="{2AF40CD6-220C-8B91-08C3-022706937BD5}"/>
          </ac:spMkLst>
        </pc:spChg>
        <pc:spChg chg="mod ord">
          <ac:chgData name="anima sharma" userId="b2f98e1a3d769a1b" providerId="LiveId" clId="{B219A0B3-5113-49B0-91C2-A4B878C8EC23}" dt="2025-11-17T06:21:27.917" v="1033" actId="207"/>
          <ac:spMkLst>
            <pc:docMk/>
            <pc:sldMk cId="123191421" sldId="273"/>
            <ac:spMk id="3" creationId="{46F2A9C5-8E5C-A8FF-9E89-3FC33693AAC4}"/>
          </ac:spMkLst>
        </pc:spChg>
        <pc:spChg chg="add del mod">
          <ac:chgData name="anima sharma" userId="b2f98e1a3d769a1b" providerId="LiveId" clId="{B219A0B3-5113-49B0-91C2-A4B878C8EC23}" dt="2025-11-17T06:20:28.045" v="1012" actId="6264"/>
          <ac:spMkLst>
            <pc:docMk/>
            <pc:sldMk cId="123191421" sldId="273"/>
            <ac:spMk id="4" creationId="{218001E9-66C2-7206-9819-D9591EA39EF4}"/>
          </ac:spMkLst>
        </pc:spChg>
        <pc:spChg chg="add del mod">
          <ac:chgData name="anima sharma" userId="b2f98e1a3d769a1b" providerId="LiveId" clId="{B219A0B3-5113-49B0-91C2-A4B878C8EC23}" dt="2025-11-17T06:20:28.045" v="1012" actId="6264"/>
          <ac:spMkLst>
            <pc:docMk/>
            <pc:sldMk cId="123191421" sldId="273"/>
            <ac:spMk id="5" creationId="{0DE5248C-D7E5-31B7-085E-FD6004A176EA}"/>
          </ac:spMkLst>
        </pc:spChg>
        <pc:spChg chg="add del mod">
          <ac:chgData name="anima sharma" userId="b2f98e1a3d769a1b" providerId="LiveId" clId="{B219A0B3-5113-49B0-91C2-A4B878C8EC23}" dt="2025-11-17T06:20:50.353" v="1014" actId="6264"/>
          <ac:spMkLst>
            <pc:docMk/>
            <pc:sldMk cId="123191421" sldId="273"/>
            <ac:spMk id="6" creationId="{85F964A3-2E04-BB21-A153-DAA3ED708ED6}"/>
          </ac:spMkLst>
        </pc:spChg>
        <pc:spChg chg="add del mod">
          <ac:chgData name="anima sharma" userId="b2f98e1a3d769a1b" providerId="LiveId" clId="{B219A0B3-5113-49B0-91C2-A4B878C8EC23}" dt="2025-11-17T06:20:50.353" v="1014" actId="6264"/>
          <ac:spMkLst>
            <pc:docMk/>
            <pc:sldMk cId="123191421" sldId="273"/>
            <ac:spMk id="7" creationId="{E12C1673-E3D0-B0CA-4594-BB115A92DDCF}"/>
          </ac:spMkLst>
        </pc:spChg>
      </pc:sldChg>
      <pc:sldChg chg="addSp modSp mod ord">
        <pc:chgData name="anima sharma" userId="b2f98e1a3d769a1b" providerId="LiveId" clId="{B219A0B3-5113-49B0-91C2-A4B878C8EC23}" dt="2025-11-17T06:22:46.131" v="1039"/>
        <pc:sldMkLst>
          <pc:docMk/>
          <pc:sldMk cId="2523080581" sldId="275"/>
        </pc:sldMkLst>
        <pc:spChg chg="mod">
          <ac:chgData name="anima sharma" userId="b2f98e1a3d769a1b" providerId="LiveId" clId="{B219A0B3-5113-49B0-91C2-A4B878C8EC23}" dt="2025-11-17T05:15:04.675" v="821" actId="20577"/>
          <ac:spMkLst>
            <pc:docMk/>
            <pc:sldMk cId="2523080581" sldId="275"/>
            <ac:spMk id="3" creationId="{CBBCF646-7FDA-CB8A-D915-229F551D5389}"/>
          </ac:spMkLst>
        </pc:spChg>
        <pc:graphicFrameChg chg="add mod modGraphic">
          <ac:chgData name="anima sharma" userId="b2f98e1a3d769a1b" providerId="LiveId" clId="{B219A0B3-5113-49B0-91C2-A4B878C8EC23}" dt="2025-11-17T05:13:38.938" v="775" actId="20577"/>
          <ac:graphicFrameMkLst>
            <pc:docMk/>
            <pc:sldMk cId="2523080581" sldId="275"/>
            <ac:graphicFrameMk id="4" creationId="{852F092A-0017-8A40-F750-1B991763DB1F}"/>
          </ac:graphicFrameMkLst>
        </pc:graphicFrameChg>
      </pc:sldChg>
      <pc:sldChg chg="ord">
        <pc:chgData name="anima sharma" userId="b2f98e1a3d769a1b" providerId="LiveId" clId="{B219A0B3-5113-49B0-91C2-A4B878C8EC23}" dt="2025-11-17T06:21:56.420" v="1035"/>
        <pc:sldMkLst>
          <pc:docMk/>
          <pc:sldMk cId="852587346" sldId="276"/>
        </pc:sldMkLst>
      </pc:sldChg>
      <pc:sldChg chg="modSp mod">
        <pc:chgData name="anima sharma" userId="b2f98e1a3d769a1b" providerId="LiveId" clId="{B219A0B3-5113-49B0-91C2-A4B878C8EC23}" dt="2025-11-17T05:53:46.844" v="837" actId="14100"/>
        <pc:sldMkLst>
          <pc:docMk/>
          <pc:sldMk cId="3742353078" sldId="278"/>
        </pc:sldMkLst>
        <pc:picChg chg="mod">
          <ac:chgData name="anima sharma" userId="b2f98e1a3d769a1b" providerId="LiveId" clId="{B219A0B3-5113-49B0-91C2-A4B878C8EC23}" dt="2025-11-17T05:53:18.415" v="834" actId="14826"/>
          <ac:picMkLst>
            <pc:docMk/>
            <pc:sldMk cId="3742353078" sldId="278"/>
            <ac:picMk id="5" creationId="{80D4491F-99C9-4E99-A241-41F17E88BAD8}"/>
          </ac:picMkLst>
        </pc:picChg>
        <pc:picChg chg="mod">
          <ac:chgData name="anima sharma" userId="b2f98e1a3d769a1b" providerId="LiveId" clId="{B219A0B3-5113-49B0-91C2-A4B878C8EC23}" dt="2025-11-17T05:53:46.844" v="837" actId="14100"/>
          <ac:picMkLst>
            <pc:docMk/>
            <pc:sldMk cId="3742353078" sldId="278"/>
            <ac:picMk id="8" creationId="{06DADF88-EBB8-A710-DD8A-7978C8954995}"/>
          </ac:picMkLst>
        </pc:picChg>
      </pc:sldChg>
      <pc:sldChg chg="addSp delSp modSp mod">
        <pc:chgData name="anima sharma" userId="b2f98e1a3d769a1b" providerId="LiveId" clId="{B219A0B3-5113-49B0-91C2-A4B878C8EC23}" dt="2025-11-17T06:19:53.119" v="1011" actId="207"/>
        <pc:sldMkLst>
          <pc:docMk/>
          <pc:sldMk cId="3972741407" sldId="279"/>
        </pc:sldMkLst>
        <pc:spChg chg="add del mod">
          <ac:chgData name="anima sharma" userId="b2f98e1a3d769a1b" providerId="LiveId" clId="{B219A0B3-5113-49B0-91C2-A4B878C8EC23}" dt="2025-11-17T06:16:41.148" v="968"/>
          <ac:spMkLst>
            <pc:docMk/>
            <pc:sldMk cId="3972741407" sldId="279"/>
            <ac:spMk id="3" creationId="{91C5BF70-2104-A7BB-6925-E0F349566E09}"/>
          </ac:spMkLst>
        </pc:spChg>
        <pc:spChg chg="add mod">
          <ac:chgData name="anima sharma" userId="b2f98e1a3d769a1b" providerId="LiveId" clId="{B219A0B3-5113-49B0-91C2-A4B878C8EC23}" dt="2025-11-17T06:19:53.119" v="1011" actId="207"/>
          <ac:spMkLst>
            <pc:docMk/>
            <pc:sldMk cId="3972741407" sldId="279"/>
            <ac:spMk id="4" creationId="{CE751DD2-E15E-1B5D-B082-9896F414231F}"/>
          </ac:spMkLst>
        </pc:spChg>
        <pc:picChg chg="mod">
          <ac:chgData name="anima sharma" userId="b2f98e1a3d769a1b" providerId="LiveId" clId="{B219A0B3-5113-49B0-91C2-A4B878C8EC23}" dt="2025-11-17T06:16:39.368" v="966" actId="14100"/>
          <ac:picMkLst>
            <pc:docMk/>
            <pc:sldMk cId="3972741407" sldId="279"/>
            <ac:picMk id="5" creationId="{BABFC3D7-781F-95FC-391E-D833ACDA88AF}"/>
          </ac:picMkLst>
        </pc:picChg>
      </pc:sldChg>
      <pc:sldChg chg="addSp delSp modSp new mod">
        <pc:chgData name="anima sharma" userId="b2f98e1a3d769a1b" providerId="LiveId" clId="{B219A0B3-5113-49B0-91C2-A4B878C8EC23}" dt="2025-11-17T06:38:57.023" v="1163" actId="20577"/>
        <pc:sldMkLst>
          <pc:docMk/>
          <pc:sldMk cId="1777396144" sldId="280"/>
        </pc:sldMkLst>
        <pc:spChg chg="mod">
          <ac:chgData name="anima sharma" userId="b2f98e1a3d769a1b" providerId="LiveId" clId="{B219A0B3-5113-49B0-91C2-A4B878C8EC23}" dt="2025-11-17T06:38:57.023" v="1163" actId="20577"/>
          <ac:spMkLst>
            <pc:docMk/>
            <pc:sldMk cId="1777396144" sldId="280"/>
            <ac:spMk id="2" creationId="{4B427D6B-E092-4687-F53B-7508A1A4477F}"/>
          </ac:spMkLst>
        </pc:spChg>
        <pc:spChg chg="del">
          <ac:chgData name="anima sharma" userId="b2f98e1a3d769a1b" providerId="LiveId" clId="{B219A0B3-5113-49B0-91C2-A4B878C8EC23}" dt="2025-11-17T06:00:41.359" v="840" actId="931"/>
          <ac:spMkLst>
            <pc:docMk/>
            <pc:sldMk cId="1777396144" sldId="280"/>
            <ac:spMk id="3" creationId="{E60335CF-2AAB-0CE6-87C0-1A32A1875C88}"/>
          </ac:spMkLst>
        </pc:spChg>
        <pc:spChg chg="add mod">
          <ac:chgData name="anima sharma" userId="b2f98e1a3d769a1b" providerId="LiveId" clId="{B219A0B3-5113-49B0-91C2-A4B878C8EC23}" dt="2025-11-17T06:08:33.773" v="962" actId="255"/>
          <ac:spMkLst>
            <pc:docMk/>
            <pc:sldMk cId="1777396144" sldId="280"/>
            <ac:spMk id="6" creationId="{38B17406-5DD8-395C-99DA-00EACC5BDD44}"/>
          </ac:spMkLst>
        </pc:spChg>
        <pc:picChg chg="add mod">
          <ac:chgData name="anima sharma" userId="b2f98e1a3d769a1b" providerId="LiveId" clId="{B219A0B3-5113-49B0-91C2-A4B878C8EC23}" dt="2025-11-17T06:01:08.822" v="844" actId="14100"/>
          <ac:picMkLst>
            <pc:docMk/>
            <pc:sldMk cId="1777396144" sldId="280"/>
            <ac:picMk id="5" creationId="{09797BE8-25F6-5E1F-84E8-2C391AC8A1E2}"/>
          </ac:picMkLst>
        </pc:picChg>
      </pc:sldChg>
      <pc:sldChg chg="addSp delSp modSp new mod">
        <pc:chgData name="anima sharma" userId="b2f98e1a3d769a1b" providerId="LiveId" clId="{B219A0B3-5113-49B0-91C2-A4B878C8EC23}" dt="2025-11-17T06:46:37.181" v="1216" actId="207"/>
        <pc:sldMkLst>
          <pc:docMk/>
          <pc:sldMk cId="4113727491" sldId="281"/>
        </pc:sldMkLst>
        <pc:spChg chg="mod">
          <ac:chgData name="anima sharma" userId="b2f98e1a3d769a1b" providerId="LiveId" clId="{B219A0B3-5113-49B0-91C2-A4B878C8EC23}" dt="2025-11-17T06:39:05.274" v="1164"/>
          <ac:spMkLst>
            <pc:docMk/>
            <pc:sldMk cId="4113727491" sldId="281"/>
            <ac:spMk id="2" creationId="{8433097F-DD1B-0488-55D9-DE1D2D032472}"/>
          </ac:spMkLst>
        </pc:spChg>
        <pc:spChg chg="del">
          <ac:chgData name="anima sharma" userId="b2f98e1a3d769a1b" providerId="LiveId" clId="{B219A0B3-5113-49B0-91C2-A4B878C8EC23}" dt="2025-11-17T06:39:13.597" v="1165" actId="931"/>
          <ac:spMkLst>
            <pc:docMk/>
            <pc:sldMk cId="4113727491" sldId="281"/>
            <ac:spMk id="3" creationId="{60D04A06-E9DB-6AF6-0544-F0FF4CFC221C}"/>
          </ac:spMkLst>
        </pc:spChg>
        <pc:spChg chg="add del mod">
          <ac:chgData name="anima sharma" userId="b2f98e1a3d769a1b" providerId="LiveId" clId="{B219A0B3-5113-49B0-91C2-A4B878C8EC23}" dt="2025-11-17T06:41:33.485" v="1178"/>
          <ac:spMkLst>
            <pc:docMk/>
            <pc:sldMk cId="4113727491" sldId="281"/>
            <ac:spMk id="6" creationId="{724329B1-40EA-84F2-CCCC-475EC4E97B96}"/>
          </ac:spMkLst>
        </pc:spChg>
        <pc:spChg chg="add del mod">
          <ac:chgData name="anima sharma" userId="b2f98e1a3d769a1b" providerId="LiveId" clId="{B219A0B3-5113-49B0-91C2-A4B878C8EC23}" dt="2025-11-17T06:44:38.624" v="1193"/>
          <ac:spMkLst>
            <pc:docMk/>
            <pc:sldMk cId="4113727491" sldId="281"/>
            <ac:spMk id="7" creationId="{63DA3338-6BA6-96C9-0164-D11581A35E9A}"/>
          </ac:spMkLst>
        </pc:spChg>
        <pc:spChg chg="add mod">
          <ac:chgData name="anima sharma" userId="b2f98e1a3d769a1b" providerId="LiveId" clId="{B219A0B3-5113-49B0-91C2-A4B878C8EC23}" dt="2025-11-17T06:46:37.181" v="1216" actId="207"/>
          <ac:spMkLst>
            <pc:docMk/>
            <pc:sldMk cId="4113727491" sldId="281"/>
            <ac:spMk id="8" creationId="{2C048261-3B02-1195-349D-76474BABC508}"/>
          </ac:spMkLst>
        </pc:spChg>
        <pc:picChg chg="add mod">
          <ac:chgData name="anima sharma" userId="b2f98e1a3d769a1b" providerId="LiveId" clId="{B219A0B3-5113-49B0-91C2-A4B878C8EC23}" dt="2025-11-17T06:44:37.485" v="1191" actId="1076"/>
          <ac:picMkLst>
            <pc:docMk/>
            <pc:sldMk cId="4113727491" sldId="281"/>
            <ac:picMk id="5" creationId="{9550E785-8770-C604-3ACE-2E4D6602B9C8}"/>
          </ac:picMkLst>
        </pc:picChg>
      </pc:sldChg>
      <pc:sldChg chg="addSp delSp modSp new mod">
        <pc:chgData name="anima sharma" userId="b2f98e1a3d769a1b" providerId="LiveId" clId="{B219A0B3-5113-49B0-91C2-A4B878C8EC23}" dt="2025-11-17T08:43:45.238" v="1339" actId="20577"/>
        <pc:sldMkLst>
          <pc:docMk/>
          <pc:sldMk cId="1320546697" sldId="283"/>
        </pc:sldMkLst>
        <pc:spChg chg="mod">
          <ac:chgData name="anima sharma" userId="b2f98e1a3d769a1b" providerId="LiveId" clId="{B219A0B3-5113-49B0-91C2-A4B878C8EC23}" dt="2025-11-17T08:36:58.736" v="1242" actId="20577"/>
          <ac:spMkLst>
            <pc:docMk/>
            <pc:sldMk cId="1320546697" sldId="283"/>
            <ac:spMk id="2" creationId="{72998B1C-6CBC-0C83-A034-2184F6D0C8E6}"/>
          </ac:spMkLst>
        </pc:spChg>
        <pc:spChg chg="del">
          <ac:chgData name="anima sharma" userId="b2f98e1a3d769a1b" providerId="LiveId" clId="{B219A0B3-5113-49B0-91C2-A4B878C8EC23}" dt="2025-11-17T08:37:02.019" v="1243" actId="22"/>
          <ac:spMkLst>
            <pc:docMk/>
            <pc:sldMk cId="1320546697" sldId="283"/>
            <ac:spMk id="3" creationId="{50E49119-B70C-78EF-A0BB-2886873FE13C}"/>
          </ac:spMkLst>
        </pc:spChg>
        <pc:spChg chg="add mod">
          <ac:chgData name="anima sharma" userId="b2f98e1a3d769a1b" providerId="LiveId" clId="{B219A0B3-5113-49B0-91C2-A4B878C8EC23}" dt="2025-11-17T08:43:45.238" v="1339" actId="20577"/>
          <ac:spMkLst>
            <pc:docMk/>
            <pc:sldMk cId="1320546697" sldId="283"/>
            <ac:spMk id="7" creationId="{0507157E-EF5D-6D16-042E-7BDCE825F54B}"/>
          </ac:spMkLst>
        </pc:spChg>
        <pc:picChg chg="add del mod ord">
          <ac:chgData name="anima sharma" userId="b2f98e1a3d769a1b" providerId="LiveId" clId="{B219A0B3-5113-49B0-91C2-A4B878C8EC23}" dt="2025-11-17T08:37:13.485" v="1244" actId="21"/>
          <ac:picMkLst>
            <pc:docMk/>
            <pc:sldMk cId="1320546697" sldId="283"/>
            <ac:picMk id="5" creationId="{D33B8417-A533-C308-41E3-C44D8D7C800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3B725B-653D-4166-A8E9-72A38A1847CF}" type="datetimeFigureOut">
              <a:rPr lang="en-US"/>
              <a:t>11/17/2025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61E8E-D392-497B-BB21-122DD7C27CF3}" type="slidenum">
              <a:rPr/>
              <a:t>‹#›</a:t>
            </a:fld>
            <a:endParaRPr/>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F64CD-0576-4A9A-BD06-7889D6E60BDC}" type="datetimeFigureOut">
              <a:rPr lang="en-US"/>
              <a:t>11/17/2025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5D449-B875-4B8D-8E66-224D27E54C9A}" type="slidenum">
              <a:rPr/>
              <a:t>‹#›</a:t>
            </a:fld>
            <a:endParaRPr/>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11/17/2025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11/17/2025</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11/17/2025</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11/17/2025</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11/17/2025</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11/17/2025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11/17/2025</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11/17/2025</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16632"/>
            <a:ext cx="4098175" cy="3024336"/>
          </a:xfrm>
        </p:spPr>
        <p:txBody>
          <a:bodyPr>
            <a:normAutofit/>
          </a:bodyPr>
          <a:lstStyle/>
          <a:p>
            <a:r>
              <a:rPr lang="en-US" sz="6000" dirty="0"/>
              <a:t>Heart Risk Analysis</a:t>
            </a:r>
          </a:p>
        </p:txBody>
      </p:sp>
      <p:sp>
        <p:nvSpPr>
          <p:cNvPr id="3" name="Subtitle 2"/>
          <p:cNvSpPr>
            <a:spLocks noGrp="1"/>
          </p:cNvSpPr>
          <p:nvPr>
            <p:ph type="subTitle" idx="1"/>
          </p:nvPr>
        </p:nvSpPr>
        <p:spPr>
          <a:xfrm>
            <a:off x="626225" y="3717033"/>
            <a:ext cx="4098175" cy="2150367"/>
          </a:xfrm>
        </p:spPr>
        <p:txBody>
          <a:bodyPr>
            <a:normAutofit/>
          </a:bodyPr>
          <a:lstStyle/>
          <a:p>
            <a:r>
              <a:rPr lang="en-US" sz="2400" cap="none" dirty="0"/>
              <a:t>An Interactive Overview Of Factors Influencing 10 – Year Coronary Heart Disease (CHD) Risk</a:t>
            </a:r>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0CD6-220C-8B91-08C3-022706937BD5}"/>
              </a:ext>
            </a:extLst>
          </p:cNvPr>
          <p:cNvSpPr>
            <a:spLocks noGrp="1"/>
          </p:cNvSpPr>
          <p:nvPr>
            <p:ph type="title"/>
          </p:nvPr>
        </p:nvSpPr>
        <p:spPr>
          <a:xfrm>
            <a:off x="1066800" y="99220"/>
            <a:ext cx="10058400" cy="1325563"/>
          </a:xfrm>
        </p:spPr>
        <p:txBody>
          <a:bodyPr/>
          <a:lstStyle/>
          <a:p>
            <a:r>
              <a:rPr lang="en-US" dirty="0"/>
              <a:t>Dataset Overview</a:t>
            </a:r>
            <a:endParaRPr lang="en-IN" dirty="0"/>
          </a:p>
        </p:txBody>
      </p:sp>
      <p:sp>
        <p:nvSpPr>
          <p:cNvPr id="3" name="Content Placeholder 2">
            <a:extLst>
              <a:ext uri="{FF2B5EF4-FFF2-40B4-BE49-F238E27FC236}">
                <a16:creationId xmlns:a16="http://schemas.microsoft.com/office/drawing/2014/main" id="{46F2A9C5-8E5C-A8FF-9E89-3FC33693AAC4}"/>
              </a:ext>
            </a:extLst>
          </p:cNvPr>
          <p:cNvSpPr>
            <a:spLocks noGrp="1"/>
          </p:cNvSpPr>
          <p:nvPr>
            <p:ph idx="1"/>
          </p:nvPr>
        </p:nvSpPr>
        <p:spPr>
          <a:xfrm>
            <a:off x="1524000" y="1828799"/>
            <a:ext cx="9144000" cy="4572001"/>
          </a:xfrm>
        </p:spPr>
        <p:txBody>
          <a:bodyPr>
            <a:normAutofit fontScale="92500" lnSpcReduction="10000"/>
          </a:bodyPr>
          <a:lstStyle/>
          <a:p>
            <a:r>
              <a:rPr lang="en-US" dirty="0"/>
              <a:t>Columns in this dataset are as follow : </a:t>
            </a:r>
            <a:r>
              <a:rPr lang="en-IN" dirty="0"/>
              <a:t>id ,  age , education, sex     , is_smoking , cigsPerDay , BPMeds , prevalentStroke , </a:t>
            </a:r>
            <a:r>
              <a:rPr lang="en-IN" dirty="0" err="1"/>
              <a:t>prevalentHyp</a:t>
            </a:r>
            <a:r>
              <a:rPr lang="en-IN" dirty="0"/>
              <a:t>,  diabetes , totChol , sysBP ,  diaBP , BMI , heartrate , glucose        , TenYearCHD .</a:t>
            </a:r>
          </a:p>
          <a:p>
            <a:r>
              <a:rPr lang="en-IN" dirty="0"/>
              <a:t>Missing and null values were present in few columns which were treated using :                                                     </a:t>
            </a:r>
          </a:p>
          <a:p>
            <a:pPr marL="0" indent="0">
              <a:buNone/>
            </a:pPr>
            <a:r>
              <a:rPr lang="en-IN" dirty="0"/>
              <a:t>  </a:t>
            </a:r>
            <a:r>
              <a:rPr lang="en-IN" dirty="0">
                <a:solidFill>
                  <a:schemeClr val="accent1">
                    <a:lumMod val="75000"/>
                  </a:schemeClr>
                </a:solidFill>
              </a:rPr>
              <a:t>Mean</a:t>
            </a:r>
            <a:r>
              <a:rPr lang="en-IN" dirty="0"/>
              <a:t> (</a:t>
            </a:r>
            <a:r>
              <a:rPr lang="en-US" dirty="0"/>
              <a:t>best for normal, continuous data without outliers</a:t>
            </a:r>
            <a:r>
              <a:rPr lang="en-IN" dirty="0"/>
              <a:t>)– e.g. Age ,    totalChol , sysBP , diaBP , heartrate.    </a:t>
            </a:r>
          </a:p>
          <a:p>
            <a:pPr marL="0" indent="0">
              <a:buNone/>
            </a:pPr>
            <a:r>
              <a:rPr lang="en-IN" dirty="0"/>
              <a:t>  </a:t>
            </a:r>
            <a:r>
              <a:rPr lang="en-IN" dirty="0">
                <a:solidFill>
                  <a:schemeClr val="accent1">
                    <a:lumMod val="75000"/>
                  </a:schemeClr>
                </a:solidFill>
              </a:rPr>
              <a:t>Median</a:t>
            </a:r>
            <a:r>
              <a:rPr lang="en-IN" dirty="0"/>
              <a:t> (</a:t>
            </a:r>
            <a:r>
              <a:rPr lang="en-US" dirty="0"/>
              <a:t>best for skewed or outlier-heavy continuous data</a:t>
            </a:r>
            <a:r>
              <a:rPr lang="en-IN" dirty="0"/>
              <a:t>)– e.g. cigsPerDay , BMI , glucose.                                                            </a:t>
            </a:r>
          </a:p>
          <a:p>
            <a:pPr marL="0" indent="0">
              <a:buNone/>
            </a:pPr>
            <a:r>
              <a:rPr lang="en-IN" dirty="0"/>
              <a:t>  </a:t>
            </a:r>
            <a:r>
              <a:rPr lang="en-IN" dirty="0">
                <a:solidFill>
                  <a:schemeClr val="accent1">
                    <a:lumMod val="75000"/>
                  </a:schemeClr>
                </a:solidFill>
              </a:rPr>
              <a:t>Mode</a:t>
            </a:r>
            <a:r>
              <a:rPr lang="en-IN" dirty="0"/>
              <a:t> (</a:t>
            </a:r>
            <a:r>
              <a:rPr lang="en-US" dirty="0"/>
              <a:t>best for categorical or binary variables</a:t>
            </a:r>
            <a:r>
              <a:rPr lang="en-IN" dirty="0"/>
              <a:t>)– e.g. Sex , is_smoking , tenYearCHD , diabetes , BPMeds , prevalantStroke and Hyp.</a:t>
            </a:r>
          </a:p>
        </p:txBody>
      </p:sp>
    </p:spTree>
    <p:extLst>
      <p:ext uri="{BB962C8B-B14F-4D97-AF65-F5344CB8AC3E}">
        <p14:creationId xmlns:p14="http://schemas.microsoft.com/office/powerpoint/2010/main" val="12319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Dataset Overview</a:t>
            </a:r>
          </a:p>
        </p:txBody>
      </p:sp>
      <p:sp>
        <p:nvSpPr>
          <p:cNvPr id="3" name="Content Placeholder 2"/>
          <p:cNvSpPr>
            <a:spLocks noGrp="1"/>
          </p:cNvSpPr>
          <p:nvPr>
            <p:ph idx="1"/>
          </p:nvPr>
        </p:nvSpPr>
        <p:spPr/>
        <p:txBody>
          <a:bodyPr>
            <a:normAutofit fontScale="92500" lnSpcReduction="20000"/>
          </a:bodyPr>
          <a:lstStyle/>
          <a:p>
            <a:r>
              <a:rPr lang="en-US" dirty="0"/>
              <a:t>Total Participants : </a:t>
            </a:r>
            <a:r>
              <a:rPr lang="en-US" dirty="0">
                <a:solidFill>
                  <a:schemeClr val="accent6">
                    <a:lumMod val="50000"/>
                  </a:schemeClr>
                </a:solidFill>
              </a:rPr>
              <a:t>3,390</a:t>
            </a:r>
          </a:p>
          <a:p>
            <a:r>
              <a:rPr lang="en-US" dirty="0"/>
              <a:t>Average Age : </a:t>
            </a:r>
            <a:r>
              <a:rPr lang="en-US" dirty="0">
                <a:solidFill>
                  <a:schemeClr val="accent6">
                    <a:lumMod val="50000"/>
                  </a:schemeClr>
                </a:solidFill>
              </a:rPr>
              <a:t>49 years</a:t>
            </a:r>
          </a:p>
          <a:p>
            <a:r>
              <a:rPr lang="en-US" dirty="0"/>
              <a:t>Gender Distribution : </a:t>
            </a:r>
            <a:r>
              <a:rPr lang="en-US" dirty="0">
                <a:solidFill>
                  <a:schemeClr val="accent6">
                    <a:lumMod val="50000"/>
                  </a:schemeClr>
                </a:solidFill>
              </a:rPr>
              <a:t>56% Females , 44% Male</a:t>
            </a:r>
          </a:p>
          <a:p>
            <a:r>
              <a:rPr lang="en-US" dirty="0"/>
              <a:t>Smokers Distribution : </a:t>
            </a:r>
            <a:r>
              <a:rPr lang="en-US" dirty="0">
                <a:solidFill>
                  <a:schemeClr val="accent6">
                    <a:lumMod val="50000"/>
                  </a:schemeClr>
                </a:solidFill>
              </a:rPr>
              <a:t>49.8% Smokers , 50.2% Non-Smokers</a:t>
            </a:r>
          </a:p>
          <a:p>
            <a:r>
              <a:rPr lang="en-US" dirty="0"/>
              <a:t>Average BMI :  </a:t>
            </a:r>
            <a:r>
              <a:rPr lang="en-US" dirty="0">
                <a:solidFill>
                  <a:schemeClr val="accent6">
                    <a:lumMod val="50000"/>
                  </a:schemeClr>
                </a:solidFill>
              </a:rPr>
              <a:t>25. 79  </a:t>
            </a:r>
          </a:p>
          <a:p>
            <a:r>
              <a:rPr lang="en-US" dirty="0"/>
              <a:t>Average Glucose : </a:t>
            </a:r>
            <a:r>
              <a:rPr lang="en-US" dirty="0">
                <a:solidFill>
                  <a:schemeClr val="accent6">
                    <a:lumMod val="50000"/>
                  </a:schemeClr>
                </a:solidFill>
              </a:rPr>
              <a:t>82 mg/dL</a:t>
            </a:r>
          </a:p>
          <a:p>
            <a:r>
              <a:rPr lang="en-US" dirty="0"/>
              <a:t>CHD Positive (Risk) : </a:t>
            </a:r>
            <a:r>
              <a:rPr lang="en-US" dirty="0">
                <a:solidFill>
                  <a:schemeClr val="accent6">
                    <a:lumMod val="50000"/>
                  </a:schemeClr>
                </a:solidFill>
              </a:rPr>
              <a:t>Approx. 15%</a:t>
            </a:r>
          </a:p>
          <a:p>
            <a:pPr marL="0" indent="0">
              <a:buNone/>
            </a:pPr>
            <a:endParaRPr lang="en-US" dirty="0">
              <a:solidFill>
                <a:schemeClr val="accent6">
                  <a:lumMod val="50000"/>
                </a:schemeClr>
              </a:solidFill>
            </a:endParaRPr>
          </a:p>
          <a:p>
            <a:pPr>
              <a:buFont typeface="Wingdings" panose="05000000000000000000" pitchFamily="2" charset="2"/>
              <a:buChar char="v"/>
            </a:pPr>
            <a:r>
              <a:rPr lang="en-US" dirty="0">
                <a:solidFill>
                  <a:srgbClr val="002060"/>
                </a:solidFill>
              </a:rPr>
              <a:t>Medical Insight : Middle-aged individuals dominate the dataset ,  and most show moderate healthy profiles.</a:t>
            </a:r>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C3E97-43DA-B9F9-8680-3DCD779CE94B}"/>
              </a:ext>
            </a:extLst>
          </p:cNvPr>
          <p:cNvSpPr>
            <a:spLocks noGrp="1"/>
          </p:cNvSpPr>
          <p:nvPr>
            <p:ph type="title"/>
          </p:nvPr>
        </p:nvSpPr>
        <p:spPr/>
        <p:txBody>
          <a:bodyPr/>
          <a:lstStyle/>
          <a:p>
            <a:r>
              <a:rPr lang="en-US" dirty="0"/>
              <a:t>Column Details</a:t>
            </a:r>
            <a:endParaRPr lang="en-IN" dirty="0"/>
          </a:p>
        </p:txBody>
      </p:sp>
      <p:sp>
        <p:nvSpPr>
          <p:cNvPr id="3" name="Content Placeholder 2">
            <a:extLst>
              <a:ext uri="{FF2B5EF4-FFF2-40B4-BE49-F238E27FC236}">
                <a16:creationId xmlns:a16="http://schemas.microsoft.com/office/drawing/2014/main" id="{CBBCF646-7FDA-CB8A-D915-229F551D5389}"/>
              </a:ext>
            </a:extLst>
          </p:cNvPr>
          <p:cNvSpPr>
            <a:spLocks noGrp="1"/>
          </p:cNvSpPr>
          <p:nvPr>
            <p:ph idx="1"/>
          </p:nvPr>
        </p:nvSpPr>
        <p:spPr>
          <a:xfrm>
            <a:off x="1416496" y="1916832"/>
            <a:ext cx="9144000" cy="4572001"/>
          </a:xfrm>
        </p:spPr>
        <p:txBody>
          <a:bodyPr>
            <a:normAutofit lnSpcReduction="10000"/>
          </a:bodyPr>
          <a:lstStyle/>
          <a:p>
            <a:r>
              <a:rPr lang="en-US" dirty="0"/>
              <a:t>PrevalentStoke and </a:t>
            </a:r>
            <a:r>
              <a:rPr lang="en-IN" dirty="0"/>
              <a:t>PrevalentHyp</a:t>
            </a:r>
            <a:r>
              <a:rPr lang="en-US" dirty="0"/>
              <a:t> is divided into 2 groups </a:t>
            </a:r>
          </a:p>
          <a:p>
            <a:pPr marL="0" indent="0">
              <a:buNone/>
            </a:pPr>
            <a:endParaRPr lang="en-IN" dirty="0"/>
          </a:p>
          <a:p>
            <a:pPr marL="0" indent="0">
              <a:buNone/>
            </a:pPr>
            <a:endParaRPr lang="en-IN" dirty="0"/>
          </a:p>
          <a:p>
            <a:pPr marL="0" indent="0">
              <a:buNone/>
            </a:pPr>
            <a:r>
              <a:rPr lang="en-IN" dirty="0"/>
              <a:t>   </a:t>
            </a:r>
            <a:r>
              <a:rPr lang="en-IN" sz="2000" dirty="0"/>
              <a:t>(Non occurring people dominate)</a:t>
            </a:r>
          </a:p>
          <a:p>
            <a:r>
              <a:rPr lang="en-IN" dirty="0"/>
              <a:t>Diabetes was classified into 2 groups diabetic(87) and non diabetic(3303) : less people are diabetic.</a:t>
            </a:r>
          </a:p>
          <a:p>
            <a:pPr latinLnBrk="1"/>
            <a:r>
              <a:rPr lang="en-IN" dirty="0"/>
              <a:t> </a:t>
            </a:r>
            <a:r>
              <a:rPr lang="en-US" dirty="0"/>
              <a:t>Cholesterol is divided into 3 groups – High(1587) , Borderline High    (1140) , Normal(663) : majority has high cholesterol.</a:t>
            </a:r>
          </a:p>
          <a:p>
            <a:pPr latinLnBrk="1"/>
            <a:r>
              <a:rPr lang="en-US" dirty="0"/>
              <a:t>SystolicBP is classified into 3 groups High(1715) , Normal(1015) , Elevated(660) : majority has high sysBP.</a:t>
            </a:r>
          </a:p>
          <a:p>
            <a:pPr latinLnBrk="1"/>
            <a:endParaRPr lang="en-US" dirty="0"/>
          </a:p>
          <a:p>
            <a:endParaRPr lang="en-IN" dirty="0"/>
          </a:p>
        </p:txBody>
      </p:sp>
      <p:graphicFrame>
        <p:nvGraphicFramePr>
          <p:cNvPr id="4" name="Table 3">
            <a:extLst>
              <a:ext uri="{FF2B5EF4-FFF2-40B4-BE49-F238E27FC236}">
                <a16:creationId xmlns:a16="http://schemas.microsoft.com/office/drawing/2014/main" id="{852F092A-0017-8A40-F750-1B991763DB1F}"/>
              </a:ext>
            </a:extLst>
          </p:cNvPr>
          <p:cNvGraphicFramePr>
            <a:graphicFrameLocks noGrp="1"/>
          </p:cNvGraphicFramePr>
          <p:nvPr>
            <p:extLst>
              <p:ext uri="{D42A27DB-BD31-4B8C-83A1-F6EECF244321}">
                <p14:modId xmlns:p14="http://schemas.microsoft.com/office/powerpoint/2010/main" val="2263208365"/>
              </p:ext>
            </p:extLst>
          </p:nvPr>
        </p:nvGraphicFramePr>
        <p:xfrm>
          <a:off x="1775520" y="2321560"/>
          <a:ext cx="6552728" cy="1097280"/>
        </p:xfrm>
        <a:graphic>
          <a:graphicData uri="http://schemas.openxmlformats.org/drawingml/2006/table">
            <a:tbl>
              <a:tblPr firstRow="1" bandRow="1">
                <a:tableStyleId>{21E4AEA4-8DFA-4A89-87EB-49C32662AFE0}</a:tableStyleId>
              </a:tblPr>
              <a:tblGrid>
                <a:gridCol w="2047728">
                  <a:extLst>
                    <a:ext uri="{9D8B030D-6E8A-4147-A177-3AD203B41FA5}">
                      <a16:colId xmlns:a16="http://schemas.microsoft.com/office/drawing/2014/main" val="1797719750"/>
                    </a:ext>
                  </a:extLst>
                </a:gridCol>
                <a:gridCol w="2252500">
                  <a:extLst>
                    <a:ext uri="{9D8B030D-6E8A-4147-A177-3AD203B41FA5}">
                      <a16:colId xmlns:a16="http://schemas.microsoft.com/office/drawing/2014/main" val="1649515648"/>
                    </a:ext>
                  </a:extLst>
                </a:gridCol>
                <a:gridCol w="2252500">
                  <a:extLst>
                    <a:ext uri="{9D8B030D-6E8A-4147-A177-3AD203B41FA5}">
                      <a16:colId xmlns:a16="http://schemas.microsoft.com/office/drawing/2014/main" val="523141326"/>
                    </a:ext>
                  </a:extLst>
                </a:gridCol>
              </a:tblGrid>
              <a:tr h="318195">
                <a:tc>
                  <a:txBody>
                    <a:bodyPr/>
                    <a:lstStyle/>
                    <a:p>
                      <a:r>
                        <a:rPr lang="en-US" dirty="0"/>
                        <a:t>Prevalent Type</a:t>
                      </a:r>
                      <a:endParaRPr lang="en-IN" dirty="0"/>
                    </a:p>
                  </a:txBody>
                  <a:tcPr/>
                </a:tc>
                <a:tc>
                  <a:txBody>
                    <a:bodyPr/>
                    <a:lstStyle/>
                    <a:p>
                      <a:r>
                        <a:rPr lang="en-US" dirty="0"/>
                        <a:t>Not Occurred</a:t>
                      </a:r>
                      <a:endParaRPr lang="en-IN" dirty="0"/>
                    </a:p>
                  </a:txBody>
                  <a:tcPr/>
                </a:tc>
                <a:tc>
                  <a:txBody>
                    <a:bodyPr/>
                    <a:lstStyle/>
                    <a:p>
                      <a:r>
                        <a:rPr lang="en-US" dirty="0"/>
                        <a:t>Occurred</a:t>
                      </a:r>
                      <a:endParaRPr lang="en-IN" dirty="0"/>
                    </a:p>
                  </a:txBody>
                  <a:tcPr/>
                </a:tc>
                <a:extLst>
                  <a:ext uri="{0D108BD9-81ED-4DB2-BD59-A6C34878D82A}">
                    <a16:rowId xmlns:a16="http://schemas.microsoft.com/office/drawing/2014/main" val="3797854513"/>
                  </a:ext>
                </a:extLst>
              </a:tr>
              <a:tr h="322614">
                <a:tc>
                  <a:txBody>
                    <a:bodyPr/>
                    <a:lstStyle/>
                    <a:p>
                      <a:pPr marL="0" indent="0">
                        <a:buNone/>
                      </a:pPr>
                      <a:r>
                        <a:rPr lang="en-US" dirty="0"/>
                        <a:t>Stroke</a:t>
                      </a:r>
                    </a:p>
                  </a:txBody>
                  <a:tcPr/>
                </a:tc>
                <a:tc>
                  <a:txBody>
                    <a:bodyPr/>
                    <a:lstStyle/>
                    <a:p>
                      <a:r>
                        <a:rPr lang="en-US" dirty="0"/>
                        <a:t>3368</a:t>
                      </a:r>
                      <a:endParaRPr lang="en-IN" dirty="0"/>
                    </a:p>
                  </a:txBody>
                  <a:tcPr/>
                </a:tc>
                <a:tc>
                  <a:txBody>
                    <a:bodyPr/>
                    <a:lstStyle/>
                    <a:p>
                      <a:r>
                        <a:rPr lang="en-US" dirty="0"/>
                        <a:t>22</a:t>
                      </a:r>
                      <a:endParaRPr lang="en-IN" dirty="0"/>
                    </a:p>
                  </a:txBody>
                  <a:tcPr/>
                </a:tc>
                <a:extLst>
                  <a:ext uri="{0D108BD9-81ED-4DB2-BD59-A6C34878D82A}">
                    <a16:rowId xmlns:a16="http://schemas.microsoft.com/office/drawing/2014/main" val="4088903886"/>
                  </a:ext>
                </a:extLst>
              </a:tr>
              <a:tr h="322614">
                <a:tc>
                  <a:txBody>
                    <a:bodyPr/>
                    <a:lstStyle/>
                    <a:p>
                      <a:r>
                        <a:rPr lang="en-US" dirty="0"/>
                        <a:t>Hypertension</a:t>
                      </a:r>
                      <a:endParaRPr lang="en-IN" dirty="0"/>
                    </a:p>
                  </a:txBody>
                  <a:tcPr/>
                </a:tc>
                <a:tc>
                  <a:txBody>
                    <a:bodyPr/>
                    <a:lstStyle/>
                    <a:p>
                      <a:r>
                        <a:rPr lang="en-US" dirty="0"/>
                        <a:t>2321</a:t>
                      </a:r>
                      <a:endParaRPr lang="en-IN" dirty="0"/>
                    </a:p>
                  </a:txBody>
                  <a:tcPr/>
                </a:tc>
                <a:tc>
                  <a:txBody>
                    <a:bodyPr/>
                    <a:lstStyle/>
                    <a:p>
                      <a:r>
                        <a:rPr lang="en-US" dirty="0"/>
                        <a:t>1069</a:t>
                      </a:r>
                      <a:endParaRPr lang="en-IN" dirty="0"/>
                    </a:p>
                  </a:txBody>
                  <a:tcPr/>
                </a:tc>
                <a:extLst>
                  <a:ext uri="{0D108BD9-81ED-4DB2-BD59-A6C34878D82A}">
                    <a16:rowId xmlns:a16="http://schemas.microsoft.com/office/drawing/2014/main" val="3353748014"/>
                  </a:ext>
                </a:extLst>
              </a:tr>
            </a:tbl>
          </a:graphicData>
        </a:graphic>
      </p:graphicFrame>
    </p:spTree>
    <p:extLst>
      <p:ext uri="{BB962C8B-B14F-4D97-AF65-F5344CB8AC3E}">
        <p14:creationId xmlns:p14="http://schemas.microsoft.com/office/powerpoint/2010/main" val="252308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7B77B-B389-6750-2B7D-DBE70C1B3842}"/>
              </a:ext>
            </a:extLst>
          </p:cNvPr>
          <p:cNvSpPr>
            <a:spLocks noGrp="1"/>
          </p:cNvSpPr>
          <p:nvPr>
            <p:ph type="title"/>
          </p:nvPr>
        </p:nvSpPr>
        <p:spPr/>
        <p:txBody>
          <a:bodyPr/>
          <a:lstStyle/>
          <a:p>
            <a:r>
              <a:rPr lang="en-US" dirty="0"/>
              <a:t>Column Details</a:t>
            </a:r>
            <a:endParaRPr lang="en-IN" dirty="0"/>
          </a:p>
        </p:txBody>
      </p:sp>
      <p:sp>
        <p:nvSpPr>
          <p:cNvPr id="3" name="Content Placeholder 2">
            <a:extLst>
              <a:ext uri="{FF2B5EF4-FFF2-40B4-BE49-F238E27FC236}">
                <a16:creationId xmlns:a16="http://schemas.microsoft.com/office/drawing/2014/main" id="{294F3BE6-A5FC-A881-2779-D82A797A9D60}"/>
              </a:ext>
            </a:extLst>
          </p:cNvPr>
          <p:cNvSpPr>
            <a:spLocks noGrp="1"/>
          </p:cNvSpPr>
          <p:nvPr>
            <p:ph idx="1"/>
          </p:nvPr>
        </p:nvSpPr>
        <p:spPr/>
        <p:txBody>
          <a:bodyPr>
            <a:normAutofit lnSpcReduction="10000"/>
          </a:bodyPr>
          <a:lstStyle/>
          <a:p>
            <a:r>
              <a:rPr lang="en-IN" dirty="0"/>
              <a:t>DiastolicBP is classified into 2 groups high(2056) and normal(1334) : majority has high diastolic BP.</a:t>
            </a:r>
          </a:p>
          <a:p>
            <a:r>
              <a:rPr lang="en-IN" dirty="0"/>
              <a:t>BMI is classified into 3 groups Overweight(1837) , Normal(1512) , Underweight(41) : majority is overweight.</a:t>
            </a:r>
          </a:p>
          <a:p>
            <a:pPr latinLnBrk="1"/>
            <a:r>
              <a:rPr lang="en-IN" dirty="0"/>
              <a:t>HeartRate is classified into 3 groups Normal(2894) , Tachycardia     (342) , Bradycardia(154) : majority has normal heart rate.</a:t>
            </a:r>
          </a:p>
          <a:p>
            <a:r>
              <a:rPr lang="en-IN" dirty="0"/>
              <a:t>Glucose is classified into 3 groups Normal(3103) , Prediabetes(184) , Diabetes(103) : majority of people have normal glucose.</a:t>
            </a:r>
          </a:p>
          <a:p>
            <a:r>
              <a:rPr lang="en-IN" dirty="0"/>
              <a:t>TenYearCHD is classified into 2 groups Positive(2879) and Negative(511) : majority of people have are positive( have risk).</a:t>
            </a:r>
          </a:p>
        </p:txBody>
      </p:sp>
    </p:spTree>
    <p:extLst>
      <p:ext uri="{BB962C8B-B14F-4D97-AF65-F5344CB8AC3E}">
        <p14:creationId xmlns:p14="http://schemas.microsoft.com/office/powerpoint/2010/main" val="85258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AD978-FF4F-1E5E-F8F2-D1CD81B74D36}"/>
              </a:ext>
            </a:extLst>
          </p:cNvPr>
          <p:cNvSpPr>
            <a:spLocks noGrp="1"/>
          </p:cNvSpPr>
          <p:nvPr>
            <p:ph type="title"/>
          </p:nvPr>
        </p:nvSpPr>
        <p:spPr/>
        <p:txBody>
          <a:bodyPr/>
          <a:lstStyle/>
          <a:p>
            <a:r>
              <a:rPr lang="en-US" dirty="0"/>
              <a:t>Column Details</a:t>
            </a:r>
            <a:endParaRPr lang="en-IN" dirty="0"/>
          </a:p>
        </p:txBody>
      </p:sp>
      <p:sp>
        <p:nvSpPr>
          <p:cNvPr id="3" name="Content Placeholder 2">
            <a:extLst>
              <a:ext uri="{FF2B5EF4-FFF2-40B4-BE49-F238E27FC236}">
                <a16:creationId xmlns:a16="http://schemas.microsoft.com/office/drawing/2014/main" id="{FDBA9AA2-7B04-3F12-9502-52F9F6F105C2}"/>
              </a:ext>
            </a:extLst>
          </p:cNvPr>
          <p:cNvSpPr>
            <a:spLocks noGrp="1"/>
          </p:cNvSpPr>
          <p:nvPr>
            <p:ph idx="1"/>
          </p:nvPr>
        </p:nvSpPr>
        <p:spPr/>
        <p:txBody>
          <a:bodyPr>
            <a:normAutofit lnSpcReduction="10000"/>
          </a:bodyPr>
          <a:lstStyle/>
          <a:p>
            <a:r>
              <a:rPr lang="en-US" dirty="0"/>
              <a:t>Age was classified into 3 groups - Adult(1402) , Middle age(1431) and Old age(557) : Middle age people dominate.</a:t>
            </a:r>
          </a:p>
          <a:p>
            <a:r>
              <a:rPr lang="en-US" dirty="0"/>
              <a:t>Sex was divided into 2 groups – Male(1467) and Female(1923) : Female dominate .</a:t>
            </a:r>
          </a:p>
          <a:p>
            <a:r>
              <a:rPr lang="en-US" dirty="0"/>
              <a:t>Is_smoking is classified into 2 groups smokers(1687) and non smokers(1703) : Non smokers dominate.</a:t>
            </a:r>
          </a:p>
          <a:p>
            <a:r>
              <a:rPr lang="en-US" dirty="0"/>
              <a:t>CigsPerDay was classified into 3 groups Low(2199) , Moderate(857) and High(337) : People consume low amount of  cigarettes more.</a:t>
            </a:r>
          </a:p>
          <a:p>
            <a:r>
              <a:rPr lang="en-US" dirty="0"/>
              <a:t>BPMeds was classified into 2 groups taking(100) and not taking(3290) : Non consumers dominate.</a:t>
            </a:r>
          </a:p>
          <a:p>
            <a:endParaRPr lang="en-US" dirty="0"/>
          </a:p>
          <a:p>
            <a:endParaRPr lang="en-IN" dirty="0"/>
          </a:p>
        </p:txBody>
      </p:sp>
    </p:spTree>
    <p:extLst>
      <p:ext uri="{BB962C8B-B14F-4D97-AF65-F5344CB8AC3E}">
        <p14:creationId xmlns:p14="http://schemas.microsoft.com/office/powerpoint/2010/main" val="3592637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08A75-083F-0D18-3921-B9A426B76E48}"/>
              </a:ext>
            </a:extLst>
          </p:cNvPr>
          <p:cNvSpPr>
            <a:spLocks noGrp="1"/>
          </p:cNvSpPr>
          <p:nvPr>
            <p:ph type="title"/>
          </p:nvPr>
        </p:nvSpPr>
        <p:spPr/>
        <p:txBody>
          <a:bodyPr/>
          <a:lstStyle/>
          <a:p>
            <a:r>
              <a:rPr lang="en-US" dirty="0"/>
              <a:t>Lifestyle Risk Factors</a:t>
            </a:r>
            <a:endParaRPr lang="en-IN" dirty="0"/>
          </a:p>
        </p:txBody>
      </p:sp>
      <p:sp>
        <p:nvSpPr>
          <p:cNvPr id="3" name="Content Placeholder 2">
            <a:extLst>
              <a:ext uri="{FF2B5EF4-FFF2-40B4-BE49-F238E27FC236}">
                <a16:creationId xmlns:a16="http://schemas.microsoft.com/office/drawing/2014/main" id="{C77CE2CC-E1A9-628C-65EA-D8D6D1B75F1E}"/>
              </a:ext>
            </a:extLst>
          </p:cNvPr>
          <p:cNvSpPr>
            <a:spLocks noGrp="1"/>
          </p:cNvSpPr>
          <p:nvPr>
            <p:ph idx="1"/>
          </p:nvPr>
        </p:nvSpPr>
        <p:spPr/>
        <p:txBody>
          <a:bodyPr/>
          <a:lstStyle/>
          <a:p>
            <a:pPr marL="457200" indent="-457200">
              <a:buFont typeface="+mj-lt"/>
              <a:buAutoNum type="arabicPeriod"/>
            </a:pPr>
            <a:r>
              <a:rPr lang="en-US" dirty="0">
                <a:solidFill>
                  <a:schemeClr val="tx1"/>
                </a:solidFill>
                <a:latin typeface="Britannic Bold" panose="020B0903060703020204" pitchFamily="34" charset="0"/>
              </a:rPr>
              <a:t>Smoking vs CHD :</a:t>
            </a:r>
          </a:p>
          <a:p>
            <a:pPr>
              <a:buFont typeface="Arial" panose="020B0604020202020204" pitchFamily="34" charset="0"/>
              <a:buChar char="•"/>
            </a:pPr>
            <a:r>
              <a:rPr lang="en-US" dirty="0"/>
              <a:t>Smokers show approx. </a:t>
            </a:r>
            <a:r>
              <a:rPr lang="en-US" dirty="0">
                <a:solidFill>
                  <a:schemeClr val="bg2">
                    <a:lumMod val="25000"/>
                  </a:schemeClr>
                </a:solidFill>
              </a:rPr>
              <a:t>20</a:t>
            </a:r>
            <a:r>
              <a:rPr lang="en-US" dirty="0"/>
              <a:t>% higher risk of CHD.</a:t>
            </a:r>
          </a:p>
          <a:p>
            <a:pPr>
              <a:buFont typeface="Arial" panose="020B0604020202020204" pitchFamily="34" charset="0"/>
              <a:buChar char="•"/>
            </a:pPr>
            <a:r>
              <a:rPr lang="en-US" dirty="0"/>
              <a:t>Males who smoke are the highest risk group.</a:t>
            </a:r>
          </a:p>
          <a:p>
            <a:pPr marL="0" indent="0">
              <a:buNone/>
            </a:pPr>
            <a:r>
              <a:rPr lang="en-US" dirty="0">
                <a:solidFill>
                  <a:schemeClr val="tx1"/>
                </a:solidFill>
                <a:latin typeface="Britannic Bold" panose="020B0903060703020204" pitchFamily="34" charset="0"/>
              </a:rPr>
              <a:t>2.  Cigarettes Per Day :</a:t>
            </a:r>
          </a:p>
          <a:p>
            <a:r>
              <a:rPr lang="en-US" dirty="0"/>
              <a:t>Low (&lt;=</a:t>
            </a:r>
            <a:r>
              <a:rPr lang="en-US" dirty="0">
                <a:solidFill>
                  <a:schemeClr val="bg2">
                    <a:lumMod val="25000"/>
                  </a:schemeClr>
                </a:solidFill>
              </a:rPr>
              <a:t>10</a:t>
            </a:r>
            <a:r>
              <a:rPr lang="en-US" dirty="0"/>
              <a:t>) : </a:t>
            </a:r>
            <a:r>
              <a:rPr lang="en-US" dirty="0">
                <a:solidFill>
                  <a:schemeClr val="bg2">
                    <a:lumMod val="25000"/>
                  </a:schemeClr>
                </a:solidFill>
              </a:rPr>
              <a:t>65</a:t>
            </a:r>
            <a:r>
              <a:rPr lang="en-US" dirty="0"/>
              <a:t>% , Moderate(</a:t>
            </a:r>
            <a:r>
              <a:rPr lang="en-US" dirty="0">
                <a:solidFill>
                  <a:schemeClr val="bg2">
                    <a:lumMod val="25000"/>
                  </a:schemeClr>
                </a:solidFill>
              </a:rPr>
              <a:t>11-29</a:t>
            </a:r>
            <a:r>
              <a:rPr lang="en-US" dirty="0"/>
              <a:t>) : </a:t>
            </a:r>
            <a:r>
              <a:rPr lang="en-US" dirty="0">
                <a:solidFill>
                  <a:schemeClr val="bg2">
                    <a:lumMod val="25000"/>
                  </a:schemeClr>
                </a:solidFill>
              </a:rPr>
              <a:t>25</a:t>
            </a:r>
            <a:r>
              <a:rPr lang="en-US" dirty="0"/>
              <a:t>% , High(&gt;=</a:t>
            </a:r>
            <a:r>
              <a:rPr lang="en-US" dirty="0">
                <a:solidFill>
                  <a:schemeClr val="bg2">
                    <a:lumMod val="25000"/>
                  </a:schemeClr>
                </a:solidFill>
              </a:rPr>
              <a:t>30</a:t>
            </a:r>
            <a:r>
              <a:rPr lang="en-US" dirty="0"/>
              <a:t>) : </a:t>
            </a:r>
            <a:r>
              <a:rPr lang="en-US" dirty="0">
                <a:solidFill>
                  <a:schemeClr val="bg2">
                    <a:lumMod val="25000"/>
                  </a:schemeClr>
                </a:solidFill>
              </a:rPr>
              <a:t>25</a:t>
            </a:r>
            <a:r>
              <a:rPr lang="en-US" dirty="0"/>
              <a:t>%</a:t>
            </a:r>
          </a:p>
          <a:p>
            <a:r>
              <a:rPr lang="en-US" dirty="0"/>
              <a:t>High smokers are more prone to have CHD tendency.</a:t>
            </a:r>
          </a:p>
          <a:p>
            <a:pPr marL="0" indent="0">
              <a:buNone/>
            </a:pPr>
            <a:endParaRPr lang="en-US" dirty="0"/>
          </a:p>
          <a:p>
            <a:pPr>
              <a:buFont typeface="Wingdings" panose="05000000000000000000" pitchFamily="2" charset="2"/>
              <a:buChar char="v"/>
            </a:pPr>
            <a:r>
              <a:rPr lang="en-US" dirty="0">
                <a:solidFill>
                  <a:srgbClr val="002060"/>
                </a:solidFill>
              </a:rPr>
              <a:t>Insight : Smoking intensity correlates strongly with risk levels.</a:t>
            </a:r>
          </a:p>
        </p:txBody>
      </p:sp>
    </p:spTree>
    <p:extLst>
      <p:ext uri="{BB962C8B-B14F-4D97-AF65-F5344CB8AC3E}">
        <p14:creationId xmlns:p14="http://schemas.microsoft.com/office/powerpoint/2010/main" val="364554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C000D-3570-BC6C-203B-8355D54CF136}"/>
              </a:ext>
            </a:extLst>
          </p:cNvPr>
          <p:cNvSpPr>
            <a:spLocks noGrp="1"/>
          </p:cNvSpPr>
          <p:nvPr>
            <p:ph type="title"/>
          </p:nvPr>
        </p:nvSpPr>
        <p:spPr/>
        <p:txBody>
          <a:bodyPr/>
          <a:lstStyle/>
          <a:p>
            <a:r>
              <a:rPr lang="en-US" dirty="0"/>
              <a:t>Health Indicators And Heart Metrics</a:t>
            </a:r>
            <a:endParaRPr lang="en-IN" dirty="0"/>
          </a:p>
        </p:txBody>
      </p:sp>
      <p:sp>
        <p:nvSpPr>
          <p:cNvPr id="3" name="Content Placeholder 2">
            <a:extLst>
              <a:ext uri="{FF2B5EF4-FFF2-40B4-BE49-F238E27FC236}">
                <a16:creationId xmlns:a16="http://schemas.microsoft.com/office/drawing/2014/main" id="{0C656AE8-6BC0-65A9-8BA1-1E6D5CE834F4}"/>
              </a:ext>
            </a:extLst>
          </p:cNvPr>
          <p:cNvSpPr>
            <a:spLocks noGrp="1"/>
          </p:cNvSpPr>
          <p:nvPr>
            <p:ph idx="1"/>
          </p:nvPr>
        </p:nvSpPr>
        <p:spPr/>
        <p:txBody>
          <a:bodyPr/>
          <a:lstStyle/>
          <a:p>
            <a:pPr marL="457200" indent="-457200">
              <a:buFont typeface="+mj-lt"/>
              <a:buAutoNum type="arabicPeriod"/>
            </a:pPr>
            <a:r>
              <a:rPr lang="en-US" dirty="0">
                <a:solidFill>
                  <a:schemeClr val="tx1"/>
                </a:solidFill>
                <a:latin typeface="Britannic Bold" panose="020B0903060703020204" pitchFamily="34" charset="0"/>
              </a:rPr>
              <a:t>Cholesterol : </a:t>
            </a:r>
          </a:p>
          <a:p>
            <a:r>
              <a:rPr lang="en-US" dirty="0"/>
              <a:t>Mean : 237 mg/dL (Borderline High Range)</a:t>
            </a:r>
          </a:p>
          <a:p>
            <a:pPr marL="0" indent="0">
              <a:buNone/>
            </a:pPr>
            <a:r>
              <a:rPr lang="en-US" dirty="0">
                <a:solidFill>
                  <a:schemeClr val="tx1"/>
                </a:solidFill>
                <a:latin typeface="Britannic Bold" panose="020B0903060703020204" pitchFamily="34" charset="0"/>
              </a:rPr>
              <a:t>2.  Blood Pressure : </a:t>
            </a:r>
          </a:p>
          <a:p>
            <a:r>
              <a:rPr lang="en-US" dirty="0"/>
              <a:t>Mean Systolic : 132.6 mmHg , Mean Diastolic : 82.9 mmHg</a:t>
            </a:r>
          </a:p>
          <a:p>
            <a:pPr marL="0" indent="0">
              <a:buNone/>
            </a:pPr>
            <a:r>
              <a:rPr lang="en-US" dirty="0">
                <a:solidFill>
                  <a:schemeClr val="tx1"/>
                </a:solidFill>
                <a:latin typeface="Britannic Bold" panose="020B0903060703020204" pitchFamily="34" charset="0"/>
              </a:rPr>
              <a:t>3.  Glucose : </a:t>
            </a:r>
          </a:p>
          <a:p>
            <a:r>
              <a:rPr lang="en-US" dirty="0"/>
              <a:t>Normal : 3103 , Prediabetes : 184 , Diabetes : 103</a:t>
            </a:r>
          </a:p>
          <a:p>
            <a:pPr marL="0" indent="0">
              <a:buNone/>
            </a:pPr>
            <a:r>
              <a:rPr lang="en-US" dirty="0">
                <a:solidFill>
                  <a:schemeClr val="tx1"/>
                </a:solidFill>
                <a:latin typeface="Britannic Bold" panose="020B0903060703020204" pitchFamily="34" charset="0"/>
              </a:rPr>
              <a:t>4.  BMI Distribution : </a:t>
            </a:r>
          </a:p>
          <a:p>
            <a:r>
              <a:rPr lang="en-US" dirty="0"/>
              <a:t>Normal : 44% , Overweight : 54% , Underweight : 1%</a:t>
            </a:r>
            <a:endParaRPr lang="en-IN" dirty="0"/>
          </a:p>
        </p:txBody>
      </p:sp>
    </p:spTree>
    <p:extLst>
      <p:ext uri="{BB962C8B-B14F-4D97-AF65-F5344CB8AC3E}">
        <p14:creationId xmlns:p14="http://schemas.microsoft.com/office/powerpoint/2010/main" val="175977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1111C-9830-F18F-9BBF-6A00C4AE3DB2}"/>
              </a:ext>
            </a:extLst>
          </p:cNvPr>
          <p:cNvSpPr>
            <a:spLocks noGrp="1"/>
          </p:cNvSpPr>
          <p:nvPr>
            <p:ph type="title"/>
          </p:nvPr>
        </p:nvSpPr>
        <p:spPr/>
        <p:txBody>
          <a:bodyPr/>
          <a:lstStyle/>
          <a:p>
            <a:r>
              <a:rPr lang="en-US" dirty="0"/>
              <a:t>Heatmap Correlation</a:t>
            </a:r>
            <a:endParaRPr lang="en-IN" dirty="0"/>
          </a:p>
        </p:txBody>
      </p:sp>
      <p:pic>
        <p:nvPicPr>
          <p:cNvPr id="4" name="Content Placeholder 3">
            <a:extLst>
              <a:ext uri="{FF2B5EF4-FFF2-40B4-BE49-F238E27FC236}">
                <a16:creationId xmlns:a16="http://schemas.microsoft.com/office/drawing/2014/main" id="{76024B36-3DD0-107D-1EBA-4EAF6F06FE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28800"/>
            <a:ext cx="12192000" cy="5229200"/>
          </a:xfrm>
        </p:spPr>
      </p:pic>
    </p:spTree>
    <p:extLst>
      <p:ext uri="{BB962C8B-B14F-4D97-AF65-F5344CB8AC3E}">
        <p14:creationId xmlns:p14="http://schemas.microsoft.com/office/powerpoint/2010/main" val="282473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8B1C-6CBC-0C83-A034-2184F6D0C8E6}"/>
              </a:ext>
            </a:extLst>
          </p:cNvPr>
          <p:cNvSpPr>
            <a:spLocks noGrp="1"/>
          </p:cNvSpPr>
          <p:nvPr>
            <p:ph type="title"/>
          </p:nvPr>
        </p:nvSpPr>
        <p:spPr/>
        <p:txBody>
          <a:bodyPr/>
          <a:lstStyle/>
          <a:p>
            <a:r>
              <a:rPr lang="en-US" dirty="0"/>
              <a:t>Correlation Insights</a:t>
            </a:r>
            <a:endParaRPr lang="en-IN" dirty="0"/>
          </a:p>
        </p:txBody>
      </p:sp>
      <p:sp>
        <p:nvSpPr>
          <p:cNvPr id="7" name="Content Placeholder 6">
            <a:extLst>
              <a:ext uri="{FF2B5EF4-FFF2-40B4-BE49-F238E27FC236}">
                <a16:creationId xmlns:a16="http://schemas.microsoft.com/office/drawing/2014/main" id="{0507157E-EF5D-6D16-042E-7BDCE825F54B}"/>
              </a:ext>
            </a:extLst>
          </p:cNvPr>
          <p:cNvSpPr>
            <a:spLocks noGrp="1"/>
          </p:cNvSpPr>
          <p:nvPr>
            <p:ph idx="1"/>
          </p:nvPr>
        </p:nvSpPr>
        <p:spPr/>
        <p:txBody>
          <a:bodyPr>
            <a:normAutofit lnSpcReduction="10000"/>
          </a:bodyPr>
          <a:lstStyle/>
          <a:p>
            <a:r>
              <a:rPr lang="en-US" dirty="0"/>
              <a:t>Strong positive correlation : Age and sysBP </a:t>
            </a:r>
          </a:p>
          <a:p>
            <a:r>
              <a:rPr lang="en-US" dirty="0"/>
              <a:t>Moderate : Smoking and CHD </a:t>
            </a:r>
          </a:p>
          <a:p>
            <a:r>
              <a:rPr lang="en-US" dirty="0"/>
              <a:t>Weak : BMI and CHD</a:t>
            </a:r>
          </a:p>
          <a:p>
            <a:r>
              <a:rPr lang="en-US" dirty="0"/>
              <a:t>The correlation heatmap shows that </a:t>
            </a:r>
            <a:r>
              <a:rPr lang="en-US" b="1" dirty="0"/>
              <a:t>age and systolic BP have a strong positive relationship</a:t>
            </a:r>
            <a:r>
              <a:rPr lang="en-US" dirty="0"/>
              <a:t>, indicating blood pressure increases with age.</a:t>
            </a:r>
          </a:p>
          <a:p>
            <a:r>
              <a:rPr lang="en-US" dirty="0"/>
              <a:t> </a:t>
            </a:r>
            <a:r>
              <a:rPr lang="en-US" b="1" dirty="0"/>
              <a:t>Smoking shows a moderate correlation with CHD</a:t>
            </a:r>
            <a:r>
              <a:rPr lang="en-US" dirty="0"/>
              <a:t>, while </a:t>
            </a:r>
            <a:r>
              <a:rPr lang="en-US" b="1" dirty="0"/>
              <a:t>BMI has only a weak link</a:t>
            </a:r>
            <a:r>
              <a:rPr lang="en-US" dirty="0"/>
              <a:t>. </a:t>
            </a:r>
          </a:p>
          <a:p>
            <a:pPr>
              <a:buFont typeface="Wingdings" panose="05000000000000000000" pitchFamily="2" charset="2"/>
              <a:buChar char="v"/>
            </a:pPr>
            <a:r>
              <a:rPr lang="en-US" dirty="0">
                <a:solidFill>
                  <a:srgbClr val="002060"/>
                </a:solidFill>
              </a:rPr>
              <a:t>Major Insight : Most variables have low-to-moderate correlations, suggesting limited multicollinearity except between age and systolic BP.</a:t>
            </a:r>
            <a:endParaRPr lang="en-IN" dirty="0"/>
          </a:p>
        </p:txBody>
      </p:sp>
    </p:spTree>
    <p:extLst>
      <p:ext uri="{BB962C8B-B14F-4D97-AF65-F5344CB8AC3E}">
        <p14:creationId xmlns:p14="http://schemas.microsoft.com/office/powerpoint/2010/main" val="1320546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490A4-B7E7-4D95-374A-7E716ED299B1}"/>
              </a:ext>
            </a:extLst>
          </p:cNvPr>
          <p:cNvSpPr>
            <a:spLocks noGrp="1"/>
          </p:cNvSpPr>
          <p:nvPr>
            <p:ph type="title"/>
          </p:nvPr>
        </p:nvSpPr>
        <p:spPr/>
        <p:txBody>
          <a:bodyPr/>
          <a:lstStyle/>
          <a:p>
            <a:r>
              <a:rPr lang="en-US" dirty="0"/>
              <a:t>Key Visual Insights On Heart Disease Risk</a:t>
            </a:r>
            <a:endParaRPr lang="en-IN" dirty="0"/>
          </a:p>
        </p:txBody>
      </p:sp>
      <p:pic>
        <p:nvPicPr>
          <p:cNvPr id="5" name="Content Placeholder 4">
            <a:extLst>
              <a:ext uri="{FF2B5EF4-FFF2-40B4-BE49-F238E27FC236}">
                <a16:creationId xmlns:a16="http://schemas.microsoft.com/office/drawing/2014/main" id="{D963651F-9F73-4AA8-68A1-E448C5CAEE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56792"/>
            <a:ext cx="4727848" cy="5301208"/>
          </a:xfrm>
        </p:spPr>
      </p:pic>
      <p:sp>
        <p:nvSpPr>
          <p:cNvPr id="7" name="TextBox 6">
            <a:extLst>
              <a:ext uri="{FF2B5EF4-FFF2-40B4-BE49-F238E27FC236}">
                <a16:creationId xmlns:a16="http://schemas.microsoft.com/office/drawing/2014/main" id="{5EDB3BDA-602F-2A2B-6C37-B6AA4850BAC4}"/>
              </a:ext>
            </a:extLst>
          </p:cNvPr>
          <p:cNvSpPr txBox="1"/>
          <p:nvPr/>
        </p:nvSpPr>
        <p:spPr>
          <a:xfrm>
            <a:off x="4943872" y="1556792"/>
            <a:ext cx="7248128" cy="5078313"/>
          </a:xfrm>
          <a:prstGeom prst="rect">
            <a:avLst/>
          </a:prstGeom>
          <a:noFill/>
        </p:spPr>
        <p:txBody>
          <a:bodyPr wrap="square" rtlCol="0">
            <a:spAutoFit/>
          </a:bodyPr>
          <a:lstStyle/>
          <a:p>
            <a:pPr marL="285750" indent="-285750">
              <a:buFont typeface="Arial" panose="020B0604020202020204" pitchFamily="34" charset="0"/>
              <a:buChar char="•"/>
            </a:pPr>
            <a:r>
              <a:rPr lang="en-US" dirty="0"/>
              <a:t>Although the overall dataset has an average age of </a:t>
            </a:r>
            <a:r>
              <a:rPr lang="en-US" b="1" dirty="0"/>
              <a:t>49 years</a:t>
            </a:r>
            <a:r>
              <a:rPr lang="en-US" dirty="0"/>
              <a:t>, the density curve (Red) shows that </a:t>
            </a:r>
            <a:r>
              <a:rPr lang="en-US" b="1" dirty="0"/>
              <a:t>CHD cases peak around the late 50s to early 60s</a:t>
            </a:r>
            <a:r>
              <a:rPr lang="en-US" dirty="0"/>
              <a:t>, which is noticeably higher than the non-CHD group.</a:t>
            </a:r>
          </a:p>
          <a:p>
            <a:endParaRPr lang="en-US" dirty="0"/>
          </a:p>
          <a:p>
            <a:pPr marL="285750" indent="-285750">
              <a:buFont typeface="Arial" panose="020B0604020202020204" pitchFamily="34" charset="0"/>
              <a:buChar char="•"/>
            </a:pPr>
            <a:r>
              <a:rPr lang="en-US" b="1" dirty="0"/>
              <a:t>Heart disease risk increases significantly with age</a:t>
            </a:r>
            <a:r>
              <a:rPr lang="en-US" dirty="0"/>
              <a:t>, especially beyond the age of 50.</a:t>
            </a:r>
          </a:p>
          <a:p>
            <a:endParaRPr lang="en-US" b="1" dirty="0"/>
          </a:p>
          <a:p>
            <a:pPr marL="285750" indent="-285750">
              <a:buFont typeface="Arial" panose="020B0604020202020204" pitchFamily="34" charset="0"/>
              <a:buChar char="•"/>
            </a:pPr>
            <a:r>
              <a:rPr lang="en-US" dirty="0"/>
              <a:t>The blue curve (No CHD) shows a higher density around the </a:t>
            </a:r>
            <a:r>
              <a:rPr lang="en-US" b="1" dirty="0"/>
              <a:t>40–50 age range</a:t>
            </a:r>
            <a:r>
              <a:rPr lang="en-US" dirty="0"/>
              <a:t>, indicating that people without heart disease are more commonly found in the younger segment of the dataset.</a:t>
            </a:r>
          </a:p>
          <a:p>
            <a:endParaRPr lang="en-US" dirty="0"/>
          </a:p>
          <a:p>
            <a:pPr marL="285750" indent="-285750">
              <a:buFont typeface="Arial" panose="020B0604020202020204" pitchFamily="34" charset="0"/>
              <a:buChar char="•"/>
            </a:pPr>
            <a:r>
              <a:rPr lang="en-US" b="1" dirty="0"/>
              <a:t>Younger individuals have a comparatively lower risk of CHD</a:t>
            </a:r>
            <a:r>
              <a:rPr lang="en-US" dirty="0"/>
              <a:t>, and risk rises as age progresses.</a:t>
            </a:r>
          </a:p>
          <a:p>
            <a:endParaRPr lang="en-US" dirty="0"/>
          </a:p>
          <a:p>
            <a:pPr marL="285750" indent="-285750">
              <a:buFont typeface="Arial" panose="020B0604020202020204" pitchFamily="34" charset="0"/>
              <a:buChar char="•"/>
            </a:pPr>
            <a:r>
              <a:rPr lang="en-US" dirty="0"/>
              <a:t>The intersection of the two curves around age 55 represents the point at which the likelihood of having coronary heart disease becomes equal to the likelihood of not having it, marking a critical age where CHD risk begins to rise significantly.</a:t>
            </a:r>
          </a:p>
        </p:txBody>
      </p:sp>
    </p:spTree>
    <p:extLst>
      <p:ext uri="{BB962C8B-B14F-4D97-AF65-F5344CB8AC3E}">
        <p14:creationId xmlns:p14="http://schemas.microsoft.com/office/powerpoint/2010/main" val="10626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94E2-58A6-C0B7-B816-E4254917B083}"/>
              </a:ext>
            </a:extLst>
          </p:cNvPr>
          <p:cNvSpPr>
            <a:spLocks noGrp="1"/>
          </p:cNvSpPr>
          <p:nvPr>
            <p:ph type="title"/>
          </p:nvPr>
        </p:nvSpPr>
        <p:spPr/>
        <p:txBody>
          <a:bodyPr/>
          <a:lstStyle/>
          <a:p>
            <a:r>
              <a:rPr lang="en-US" dirty="0"/>
              <a:t>Key Visual Insights On Heart Disease Risk</a:t>
            </a:r>
            <a:endParaRPr lang="en-IN" dirty="0"/>
          </a:p>
        </p:txBody>
      </p:sp>
      <p:pic>
        <p:nvPicPr>
          <p:cNvPr id="5" name="Content Placeholder 4">
            <a:extLst>
              <a:ext uri="{FF2B5EF4-FFF2-40B4-BE49-F238E27FC236}">
                <a16:creationId xmlns:a16="http://schemas.microsoft.com/office/drawing/2014/main" id="{80D4491F-99C9-4E99-A241-41F17E88BAD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0" y="1556792"/>
            <a:ext cx="5663952" cy="2448272"/>
          </a:xfrm>
        </p:spPr>
      </p:pic>
      <p:sp>
        <p:nvSpPr>
          <p:cNvPr id="6" name="TextBox 5">
            <a:extLst>
              <a:ext uri="{FF2B5EF4-FFF2-40B4-BE49-F238E27FC236}">
                <a16:creationId xmlns:a16="http://schemas.microsoft.com/office/drawing/2014/main" id="{7CF9521C-D841-D0CD-4B68-D787B8F5DE46}"/>
              </a:ext>
            </a:extLst>
          </p:cNvPr>
          <p:cNvSpPr txBox="1"/>
          <p:nvPr/>
        </p:nvSpPr>
        <p:spPr>
          <a:xfrm>
            <a:off x="6096000" y="1700808"/>
            <a:ext cx="6096000"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Men show a greater tendency toward developing heart disease within 10 years</a:t>
            </a:r>
            <a:r>
              <a:rPr lang="en-US" dirty="0"/>
              <a:t>, despite being fewer in number.</a:t>
            </a:r>
          </a:p>
          <a:p>
            <a:endParaRPr lang="en-US" dirty="0"/>
          </a:p>
          <a:p>
            <a:pPr marL="285750" indent="-285750">
              <a:buFont typeface="Arial" panose="020B0604020202020204" pitchFamily="34" charset="0"/>
              <a:buChar char="•"/>
            </a:pPr>
            <a:r>
              <a:rPr lang="en-US" dirty="0"/>
              <a:t>The blue bars (CHD = 0) are much taller for both genders, </a:t>
            </a:r>
            <a:r>
              <a:rPr lang="en-US" b="1" dirty="0"/>
              <a:t>while risk exists, CHD events are relatively less frequent overall</a:t>
            </a:r>
            <a:r>
              <a:rPr lang="en-US" dirty="0"/>
              <a:t>, especially in females.</a:t>
            </a:r>
            <a:endParaRPr lang="en-IN" dirty="0"/>
          </a:p>
        </p:txBody>
      </p:sp>
      <p:pic>
        <p:nvPicPr>
          <p:cNvPr id="8" name="Picture 7">
            <a:extLst>
              <a:ext uri="{FF2B5EF4-FFF2-40B4-BE49-F238E27FC236}">
                <a16:creationId xmlns:a16="http://schemas.microsoft.com/office/drawing/2014/main" id="{06DADF88-EBB8-A710-DD8A-7978C895499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4398803"/>
            <a:ext cx="5663952" cy="2448272"/>
          </a:xfrm>
          <a:prstGeom prst="rect">
            <a:avLst/>
          </a:prstGeom>
        </p:spPr>
      </p:pic>
      <p:sp>
        <p:nvSpPr>
          <p:cNvPr id="9" name="TextBox 8">
            <a:extLst>
              <a:ext uri="{FF2B5EF4-FFF2-40B4-BE49-F238E27FC236}">
                <a16:creationId xmlns:a16="http://schemas.microsoft.com/office/drawing/2014/main" id="{D71FEA23-D84D-D13F-94F9-96AB20F3DDE2}"/>
              </a:ext>
            </a:extLst>
          </p:cNvPr>
          <p:cNvSpPr txBox="1"/>
          <p:nvPr/>
        </p:nvSpPr>
        <p:spPr>
          <a:xfrm>
            <a:off x="6096030" y="4398803"/>
            <a:ext cx="6095969"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Smokers show a higher number of 10-year CHD cases</a:t>
            </a:r>
            <a:r>
              <a:rPr lang="en-US" dirty="0"/>
              <a:t>, highlighting smoking as a clear risk factor for heart disease.</a:t>
            </a:r>
          </a:p>
          <a:p>
            <a:endParaRPr lang="en-US" dirty="0"/>
          </a:p>
          <a:p>
            <a:pPr marL="285750" indent="-285750">
              <a:buFont typeface="Arial" panose="020B0604020202020204" pitchFamily="34" charset="0"/>
              <a:buChar char="•"/>
            </a:pPr>
            <a:r>
              <a:rPr lang="en-US" b="1" dirty="0"/>
              <a:t>Most individuals in both groups do not develop CHD</a:t>
            </a:r>
            <a:r>
              <a:rPr lang="en-US" dirty="0"/>
              <a:t>, but the higher CHD count among smokers shows that </a:t>
            </a:r>
            <a:r>
              <a:rPr lang="en-US" b="1" dirty="0"/>
              <a:t>smoking significantly increases risk</a:t>
            </a:r>
            <a:r>
              <a:rPr lang="en-US" dirty="0"/>
              <a:t>.</a:t>
            </a:r>
          </a:p>
          <a:p>
            <a:endParaRPr lang="en-IN" dirty="0"/>
          </a:p>
        </p:txBody>
      </p:sp>
    </p:spTree>
    <p:extLst>
      <p:ext uri="{BB962C8B-B14F-4D97-AF65-F5344CB8AC3E}">
        <p14:creationId xmlns:p14="http://schemas.microsoft.com/office/powerpoint/2010/main" val="3742353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B42E9-6DFD-BC05-DB8A-96B6DF19EE0C}"/>
              </a:ext>
            </a:extLst>
          </p:cNvPr>
          <p:cNvSpPr>
            <a:spLocks noGrp="1"/>
          </p:cNvSpPr>
          <p:nvPr>
            <p:ph type="title"/>
          </p:nvPr>
        </p:nvSpPr>
        <p:spPr/>
        <p:txBody>
          <a:bodyPr/>
          <a:lstStyle/>
          <a:p>
            <a:r>
              <a:rPr lang="en-US" dirty="0"/>
              <a:t>Key Visual Insights On Heart Disease Risk</a:t>
            </a:r>
            <a:endParaRPr lang="en-IN" dirty="0"/>
          </a:p>
        </p:txBody>
      </p:sp>
      <p:pic>
        <p:nvPicPr>
          <p:cNvPr id="5" name="Content Placeholder 4">
            <a:extLst>
              <a:ext uri="{FF2B5EF4-FFF2-40B4-BE49-F238E27FC236}">
                <a16:creationId xmlns:a16="http://schemas.microsoft.com/office/drawing/2014/main" id="{BABFC3D7-781F-95FC-391E-D833ACDA88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56792"/>
            <a:ext cx="5591944" cy="5301208"/>
          </a:xfrm>
        </p:spPr>
      </p:pic>
      <p:sp>
        <p:nvSpPr>
          <p:cNvPr id="4" name="TextBox 3">
            <a:extLst>
              <a:ext uri="{FF2B5EF4-FFF2-40B4-BE49-F238E27FC236}">
                <a16:creationId xmlns:a16="http://schemas.microsoft.com/office/drawing/2014/main" id="{CE751DD2-E15E-1B5D-B082-9896F414231F}"/>
              </a:ext>
            </a:extLst>
          </p:cNvPr>
          <p:cNvSpPr txBox="1"/>
          <p:nvPr/>
        </p:nvSpPr>
        <p:spPr>
          <a:xfrm>
            <a:off x="6096000" y="1772816"/>
            <a:ext cx="609600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Individuals with heart disease risk (CHD = 1) show a noticeably higher median systolic blood pressure than those without risk.</a:t>
            </a:r>
          </a:p>
          <a:p>
            <a:endParaRPr lang="en-US" dirty="0"/>
          </a:p>
          <a:p>
            <a:pPr marL="285750" indent="-285750">
              <a:buFont typeface="Arial" panose="020B0604020202020204" pitchFamily="34" charset="0"/>
              <a:buChar char="•"/>
            </a:pPr>
            <a:r>
              <a:rPr lang="en-US" dirty="0"/>
              <a:t>The CHD-positive group also has a wider spread of BP values, indicating more variation and instability.</a:t>
            </a:r>
          </a:p>
          <a:p>
            <a:endParaRPr lang="en-US" dirty="0"/>
          </a:p>
          <a:p>
            <a:pPr marL="285750" indent="-285750">
              <a:buFont typeface="Arial" panose="020B0604020202020204" pitchFamily="34" charset="0"/>
              <a:buChar char="•"/>
            </a:pPr>
            <a:r>
              <a:rPr lang="en-US" dirty="0"/>
              <a:t>There are many high-BP outliers in the CHD-positive category, showing the presence of severe hypertension cases.</a:t>
            </a:r>
          </a:p>
          <a:p>
            <a:endParaRPr lang="en-US" dirty="0"/>
          </a:p>
          <a:p>
            <a:pPr marL="285750" indent="-285750">
              <a:buFont typeface="Wingdings" panose="05000000000000000000" pitchFamily="2" charset="2"/>
              <a:buChar char="v"/>
            </a:pPr>
            <a:r>
              <a:rPr lang="en-US" dirty="0">
                <a:solidFill>
                  <a:srgbClr val="002060"/>
                </a:solidFill>
              </a:rPr>
              <a:t>Insight : The plot highlights that elevated and fluctuating systolic blood pressure is strongly associated with increased heart disease risk</a:t>
            </a:r>
            <a:endParaRPr lang="en-IN" dirty="0">
              <a:solidFill>
                <a:srgbClr val="002060"/>
              </a:solidFill>
            </a:endParaRPr>
          </a:p>
        </p:txBody>
      </p:sp>
    </p:spTree>
    <p:extLst>
      <p:ext uri="{BB962C8B-B14F-4D97-AF65-F5344CB8AC3E}">
        <p14:creationId xmlns:p14="http://schemas.microsoft.com/office/powerpoint/2010/main" val="3972741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7D6B-E092-4687-F53B-7508A1A4477F}"/>
              </a:ext>
            </a:extLst>
          </p:cNvPr>
          <p:cNvSpPr>
            <a:spLocks noGrp="1"/>
          </p:cNvSpPr>
          <p:nvPr>
            <p:ph type="title"/>
          </p:nvPr>
        </p:nvSpPr>
        <p:spPr/>
        <p:txBody>
          <a:bodyPr/>
          <a:lstStyle/>
          <a:p>
            <a:r>
              <a:rPr lang="en-US" dirty="0"/>
              <a:t>Key Visual Insights On Heart Disease Risk</a:t>
            </a:r>
            <a:endParaRPr lang="en-IN" dirty="0"/>
          </a:p>
        </p:txBody>
      </p:sp>
      <p:pic>
        <p:nvPicPr>
          <p:cNvPr id="5" name="Content Placeholder 4">
            <a:extLst>
              <a:ext uri="{FF2B5EF4-FFF2-40B4-BE49-F238E27FC236}">
                <a16:creationId xmlns:a16="http://schemas.microsoft.com/office/drawing/2014/main" id="{09797BE8-25F6-5E1F-84E8-2C391AC8A1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56792"/>
            <a:ext cx="5591944" cy="5400600"/>
          </a:xfrm>
        </p:spPr>
      </p:pic>
      <p:sp>
        <p:nvSpPr>
          <p:cNvPr id="6" name="TextBox 5">
            <a:extLst>
              <a:ext uri="{FF2B5EF4-FFF2-40B4-BE49-F238E27FC236}">
                <a16:creationId xmlns:a16="http://schemas.microsoft.com/office/drawing/2014/main" id="{38B17406-5DD8-395C-99DA-00EACC5BDD44}"/>
              </a:ext>
            </a:extLst>
          </p:cNvPr>
          <p:cNvSpPr txBox="1"/>
          <p:nvPr/>
        </p:nvSpPr>
        <p:spPr>
          <a:xfrm>
            <a:off x="6096000" y="2060848"/>
            <a:ext cx="6096000"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tail of the graph is towards right side so it is positively skewed.</a:t>
            </a:r>
          </a:p>
          <a:p>
            <a:endParaRPr lang="en-US" sz="2400" dirty="0"/>
          </a:p>
          <a:p>
            <a:pPr marL="285750" indent="-285750">
              <a:buFont typeface="Arial" panose="020B0604020202020204" pitchFamily="34" charset="0"/>
              <a:buChar char="•"/>
            </a:pPr>
            <a:r>
              <a:rPr lang="en-US" sz="2400" dirty="0"/>
              <a:t>The histogram of </a:t>
            </a:r>
            <a:r>
              <a:rPr lang="en-US" sz="2400" i="1" dirty="0"/>
              <a:t>is_smoking</a:t>
            </a:r>
            <a:r>
              <a:rPr lang="en-US" sz="2400" dirty="0"/>
              <a:t> shows a right-skewed distribution, with most individuals being non-smokers and fewer belonging to the smoker category.</a:t>
            </a:r>
          </a:p>
          <a:p>
            <a:endParaRPr lang="en-US" sz="2400" dirty="0"/>
          </a:p>
          <a:p>
            <a:pPr marL="285750" indent="-285750">
              <a:buFont typeface="Arial" panose="020B0604020202020204" pitchFamily="34" charset="0"/>
              <a:buChar char="•"/>
            </a:pPr>
            <a:r>
              <a:rPr lang="en-US" sz="2400" dirty="0"/>
              <a:t> This positive skew indicates that smoking is less common in the dataset compared to non-smoking</a:t>
            </a:r>
            <a:endParaRPr lang="en-IN" sz="2400" dirty="0"/>
          </a:p>
        </p:txBody>
      </p:sp>
    </p:spTree>
    <p:extLst>
      <p:ext uri="{BB962C8B-B14F-4D97-AF65-F5344CB8AC3E}">
        <p14:creationId xmlns:p14="http://schemas.microsoft.com/office/powerpoint/2010/main" val="177739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3097F-DD1B-0488-55D9-DE1D2D032472}"/>
              </a:ext>
            </a:extLst>
          </p:cNvPr>
          <p:cNvSpPr>
            <a:spLocks noGrp="1"/>
          </p:cNvSpPr>
          <p:nvPr>
            <p:ph type="title"/>
          </p:nvPr>
        </p:nvSpPr>
        <p:spPr/>
        <p:txBody>
          <a:bodyPr/>
          <a:lstStyle/>
          <a:p>
            <a:r>
              <a:rPr lang="en-US" dirty="0"/>
              <a:t>Key Visual Insights On Heart Disease Risk</a:t>
            </a:r>
            <a:endParaRPr lang="en-IN" dirty="0"/>
          </a:p>
        </p:txBody>
      </p:sp>
      <p:pic>
        <p:nvPicPr>
          <p:cNvPr id="5" name="Content Placeholder 4">
            <a:extLst>
              <a:ext uri="{FF2B5EF4-FFF2-40B4-BE49-F238E27FC236}">
                <a16:creationId xmlns:a16="http://schemas.microsoft.com/office/drawing/2014/main" id="{9550E785-8770-C604-3ACE-2E4D6602B9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556792"/>
            <a:ext cx="5303912" cy="5301208"/>
          </a:xfrm>
        </p:spPr>
      </p:pic>
      <p:sp>
        <p:nvSpPr>
          <p:cNvPr id="8" name="TextBox 7">
            <a:extLst>
              <a:ext uri="{FF2B5EF4-FFF2-40B4-BE49-F238E27FC236}">
                <a16:creationId xmlns:a16="http://schemas.microsoft.com/office/drawing/2014/main" id="{2C048261-3B02-1195-349D-76474BABC508}"/>
              </a:ext>
            </a:extLst>
          </p:cNvPr>
          <p:cNvSpPr txBox="1"/>
          <p:nvPr/>
        </p:nvSpPr>
        <p:spPr>
          <a:xfrm>
            <a:off x="5735960" y="1916832"/>
            <a:ext cx="6456040" cy="3970318"/>
          </a:xfrm>
          <a:prstGeom prst="rect">
            <a:avLst/>
          </a:prstGeom>
          <a:noFill/>
        </p:spPr>
        <p:txBody>
          <a:bodyPr wrap="square" rtlCol="0">
            <a:spAutoFit/>
          </a:bodyPr>
          <a:lstStyle/>
          <a:p>
            <a:pPr marL="285750" indent="-285750">
              <a:buFont typeface="Arial" panose="020B0604020202020204" pitchFamily="34" charset="0"/>
              <a:buChar char="•"/>
            </a:pPr>
            <a:r>
              <a:rPr lang="en-US" dirty="0"/>
              <a:t>The majority of individuals fall into the </a:t>
            </a:r>
            <a:r>
              <a:rPr lang="en-US" b="1" dirty="0"/>
              <a:t>High Cholesterol</a:t>
            </a:r>
            <a:r>
              <a:rPr lang="en-US" dirty="0"/>
              <a:t> category (47%), indicating a significant cardiovascular risk burden in the dataset.</a:t>
            </a:r>
          </a:p>
          <a:p>
            <a:endParaRPr lang="en-US" dirty="0"/>
          </a:p>
          <a:p>
            <a:pPr marL="285750" indent="-285750">
              <a:buFont typeface="Arial" panose="020B0604020202020204" pitchFamily="34" charset="0"/>
              <a:buChar char="•"/>
            </a:pPr>
            <a:r>
              <a:rPr lang="en-US" dirty="0"/>
              <a:t>Around </a:t>
            </a:r>
            <a:r>
              <a:rPr lang="en-US" b="1" dirty="0"/>
              <a:t>32% have Borderline High cholesterol</a:t>
            </a:r>
            <a:r>
              <a:rPr lang="en-US" dirty="0"/>
              <a:t>, suggesting many individuals are close to entering the high-risk zone.</a:t>
            </a:r>
          </a:p>
          <a:p>
            <a:endParaRPr lang="en-US" dirty="0"/>
          </a:p>
          <a:p>
            <a:pPr marL="285750" indent="-285750">
              <a:buFont typeface="Arial" panose="020B0604020202020204" pitchFamily="34" charset="0"/>
              <a:buChar char="•"/>
            </a:pPr>
            <a:r>
              <a:rPr lang="en-US" dirty="0"/>
              <a:t>Only </a:t>
            </a:r>
            <a:r>
              <a:rPr lang="en-US" b="1" dirty="0"/>
              <a:t>19% of the population has Normal cholesterol</a:t>
            </a:r>
            <a:r>
              <a:rPr lang="en-US" dirty="0"/>
              <a:t>, showing that healthy cholesterol levels are comparatively less common.</a:t>
            </a:r>
          </a:p>
          <a:p>
            <a:endParaRPr lang="en-US" dirty="0"/>
          </a:p>
          <a:p>
            <a:pPr marL="285750" indent="-285750">
              <a:buFont typeface="Wingdings" panose="05000000000000000000" pitchFamily="2" charset="2"/>
              <a:buChar char="v"/>
            </a:pPr>
            <a:r>
              <a:rPr lang="en-US" dirty="0">
                <a:solidFill>
                  <a:srgbClr val="002060"/>
                </a:solidFill>
              </a:rPr>
              <a:t>Overall, the distribution highlights a </a:t>
            </a:r>
            <a:r>
              <a:rPr lang="en-US" b="1" dirty="0">
                <a:solidFill>
                  <a:srgbClr val="002060"/>
                </a:solidFill>
              </a:rPr>
              <a:t>need for lifestyle interventions and preventive healthcare</a:t>
            </a:r>
            <a:r>
              <a:rPr lang="en-US" dirty="0">
                <a:solidFill>
                  <a:srgbClr val="002060"/>
                </a:solidFill>
              </a:rPr>
              <a:t>, as more than two-thirds of the individuals show elevated cholesterol levels.</a:t>
            </a:r>
            <a:endParaRPr lang="en-IN" dirty="0">
              <a:solidFill>
                <a:srgbClr val="002060"/>
              </a:solidFill>
            </a:endParaRPr>
          </a:p>
        </p:txBody>
      </p:sp>
    </p:spTree>
    <p:extLst>
      <p:ext uri="{BB962C8B-B14F-4D97-AF65-F5344CB8AC3E}">
        <p14:creationId xmlns:p14="http://schemas.microsoft.com/office/powerpoint/2010/main" val="411372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CB68-5FC5-87D2-9506-32D5A9858A9A}"/>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F34E522C-A020-671D-91AB-8B2003C0B6D7}"/>
              </a:ext>
            </a:extLst>
          </p:cNvPr>
          <p:cNvSpPr>
            <a:spLocks noGrp="1"/>
          </p:cNvSpPr>
          <p:nvPr>
            <p:ph idx="1"/>
          </p:nvPr>
        </p:nvSpPr>
        <p:spPr/>
        <p:txBody>
          <a:bodyPr>
            <a:normAutofit/>
          </a:bodyPr>
          <a:lstStyle/>
          <a:p>
            <a:pPr>
              <a:buFont typeface="Wingdings" panose="05000000000000000000" pitchFamily="2" charset="2"/>
              <a:buChar char="Ø"/>
            </a:pPr>
            <a:r>
              <a:rPr lang="en-US" dirty="0">
                <a:solidFill>
                  <a:schemeClr val="tx1"/>
                </a:solidFill>
                <a:latin typeface="Britannic Bold" panose="020B0903060703020204" pitchFamily="34" charset="0"/>
              </a:rPr>
              <a:t>Heart Risk Analysis Summary :</a:t>
            </a:r>
          </a:p>
          <a:p>
            <a:pPr marL="0" indent="0">
              <a:buNone/>
            </a:pPr>
            <a:endParaRPr lang="en-US" dirty="0">
              <a:solidFill>
                <a:schemeClr val="tx1"/>
              </a:solidFill>
              <a:latin typeface="Britannic Bold" panose="020B0903060703020204" pitchFamily="34" charset="0"/>
            </a:endParaRPr>
          </a:p>
          <a:p>
            <a:r>
              <a:rPr lang="en-US" dirty="0"/>
              <a:t>Findings highlight that managing blood pressure and reducing smoking are key to lowering long-term heart disease risk. </a:t>
            </a:r>
          </a:p>
          <a:p>
            <a:r>
              <a:rPr lang="en-US" dirty="0"/>
              <a:t>Age and Cholesterol are also affecting factors.</a:t>
            </a:r>
          </a:p>
          <a:p>
            <a:r>
              <a:rPr lang="en-US" dirty="0"/>
              <a:t>Early diagnosis is through BP and glucose monitoring is key.</a:t>
            </a:r>
          </a:p>
          <a:p>
            <a:r>
              <a:rPr lang="en-US" dirty="0"/>
              <a:t>Males exhibit slightly higher CHD probability.</a:t>
            </a:r>
          </a:p>
          <a:p>
            <a:r>
              <a:rPr lang="en-US" dirty="0"/>
              <a:t>Awareness , Preventive Actions can lower the risk of heart disease.</a:t>
            </a:r>
          </a:p>
          <a:p>
            <a:pPr marL="0" indent="0">
              <a:buNone/>
            </a:pPr>
            <a:endParaRPr lang="en-US" dirty="0">
              <a:solidFill>
                <a:srgbClr val="002060"/>
              </a:solidFill>
            </a:endParaRPr>
          </a:p>
          <a:p>
            <a:pPr marL="0" indent="0">
              <a:buNone/>
            </a:pPr>
            <a:endParaRPr lang="en-US" dirty="0">
              <a:solidFill>
                <a:srgbClr val="002060"/>
              </a:solidFill>
            </a:endParaRPr>
          </a:p>
        </p:txBody>
      </p:sp>
    </p:spTree>
    <p:extLst>
      <p:ext uri="{BB962C8B-B14F-4D97-AF65-F5344CB8AC3E}">
        <p14:creationId xmlns:p14="http://schemas.microsoft.com/office/powerpoint/2010/main" val="55295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F2B1-FD99-33D7-4AEE-54329C01C876}"/>
              </a:ext>
            </a:extLst>
          </p:cNvPr>
          <p:cNvSpPr>
            <a:spLocks noGrp="1"/>
          </p:cNvSpPr>
          <p:nvPr>
            <p:ph type="title"/>
          </p:nvPr>
        </p:nvSpPr>
        <p:spPr/>
        <p:txBody>
          <a:bodyPr/>
          <a:lstStyle/>
          <a:p>
            <a:r>
              <a:rPr lang="en-US" dirty="0"/>
              <a:t>Tools Used</a:t>
            </a:r>
            <a:endParaRPr lang="en-IN" dirty="0"/>
          </a:p>
        </p:txBody>
      </p:sp>
      <p:pic>
        <p:nvPicPr>
          <p:cNvPr id="15" name="Content Placeholder 14">
            <a:extLst>
              <a:ext uri="{FF2B5EF4-FFF2-40B4-BE49-F238E27FC236}">
                <a16:creationId xmlns:a16="http://schemas.microsoft.com/office/drawing/2014/main" id="{49034B86-2383-410B-CD5C-3CF3DB4BAD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361" y="1628800"/>
            <a:ext cx="5338760" cy="1657581"/>
          </a:xfrm>
        </p:spPr>
      </p:pic>
      <p:pic>
        <p:nvPicPr>
          <p:cNvPr id="17" name="Picture 16">
            <a:extLst>
              <a:ext uri="{FF2B5EF4-FFF2-40B4-BE49-F238E27FC236}">
                <a16:creationId xmlns:a16="http://schemas.microsoft.com/office/drawing/2014/main" id="{91DD34BD-078C-C284-EB25-4AB2383BB5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4845" y="1556792"/>
            <a:ext cx="4953691" cy="1629002"/>
          </a:xfrm>
          <a:prstGeom prst="rect">
            <a:avLst/>
          </a:prstGeom>
        </p:spPr>
      </p:pic>
      <p:pic>
        <p:nvPicPr>
          <p:cNvPr id="19" name="Picture 18">
            <a:extLst>
              <a:ext uri="{FF2B5EF4-FFF2-40B4-BE49-F238E27FC236}">
                <a16:creationId xmlns:a16="http://schemas.microsoft.com/office/drawing/2014/main" id="{DD011783-D29A-3FD9-EA61-B40AEF712D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385275"/>
            <a:ext cx="5674120" cy="1247949"/>
          </a:xfrm>
          <a:prstGeom prst="rect">
            <a:avLst/>
          </a:prstGeom>
        </p:spPr>
      </p:pic>
      <p:pic>
        <p:nvPicPr>
          <p:cNvPr id="21" name="Picture 20">
            <a:extLst>
              <a:ext uri="{FF2B5EF4-FFF2-40B4-BE49-F238E27FC236}">
                <a16:creationId xmlns:a16="http://schemas.microsoft.com/office/drawing/2014/main" id="{B7F69657-AC12-A292-1276-7A4ABDF6FF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23" y="3571620"/>
            <a:ext cx="5674120" cy="1528416"/>
          </a:xfrm>
          <a:prstGeom prst="rect">
            <a:avLst/>
          </a:prstGeom>
        </p:spPr>
      </p:pic>
      <p:pic>
        <p:nvPicPr>
          <p:cNvPr id="23" name="Picture 22">
            <a:extLst>
              <a:ext uri="{FF2B5EF4-FFF2-40B4-BE49-F238E27FC236}">
                <a16:creationId xmlns:a16="http://schemas.microsoft.com/office/drawing/2014/main" id="{532524FA-4E0D-C90F-A6FD-CB04A5F8F8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34845" y="3571620"/>
            <a:ext cx="4957155" cy="1629002"/>
          </a:xfrm>
          <a:prstGeom prst="rect">
            <a:avLst/>
          </a:prstGeom>
        </p:spPr>
      </p:pic>
    </p:spTree>
    <p:extLst>
      <p:ext uri="{BB962C8B-B14F-4D97-AF65-F5344CB8AC3E}">
        <p14:creationId xmlns:p14="http://schemas.microsoft.com/office/powerpoint/2010/main" val="3530384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3FFD0-8D43-09F6-FC00-57E0A72B54B8}"/>
              </a:ext>
            </a:extLst>
          </p:cNvPr>
          <p:cNvSpPr>
            <a:spLocks noGrp="1"/>
          </p:cNvSpPr>
          <p:nvPr>
            <p:ph type="title"/>
          </p:nvPr>
        </p:nvSpPr>
        <p:spPr/>
        <p:txBody>
          <a:bodyPr/>
          <a:lstStyle/>
          <a:p>
            <a:r>
              <a:rPr lang="en-US" dirty="0"/>
              <a:t>Ending </a:t>
            </a:r>
            <a:endParaRPr lang="en-IN" dirty="0"/>
          </a:p>
        </p:txBody>
      </p:sp>
      <p:sp>
        <p:nvSpPr>
          <p:cNvPr id="3" name="Content Placeholder 2">
            <a:extLst>
              <a:ext uri="{FF2B5EF4-FFF2-40B4-BE49-F238E27FC236}">
                <a16:creationId xmlns:a16="http://schemas.microsoft.com/office/drawing/2014/main" id="{9B137DD8-DECA-6955-4B56-2983299EE66B}"/>
              </a:ext>
            </a:extLst>
          </p:cNvPr>
          <p:cNvSpPr>
            <a:spLocks noGrp="1"/>
          </p:cNvSpPr>
          <p:nvPr>
            <p:ph idx="1"/>
          </p:nvPr>
        </p:nvSpPr>
        <p:spPr/>
        <p:txBody>
          <a:bodyPr>
            <a:normAutofit/>
          </a:bodyPr>
          <a:lstStyle/>
          <a:p>
            <a:pPr marL="0" indent="0">
              <a:buNone/>
            </a:pPr>
            <a:r>
              <a:rPr lang="en-US" sz="4400" dirty="0"/>
              <a:t>Prepared and Presented by ---</a:t>
            </a:r>
          </a:p>
          <a:p>
            <a:pPr marL="0" indent="0">
              <a:buNone/>
            </a:pPr>
            <a:r>
              <a:rPr lang="en-US" sz="4400" dirty="0">
                <a:solidFill>
                  <a:srgbClr val="002060"/>
                </a:solidFill>
              </a:rPr>
              <a:t>Anima Sharma</a:t>
            </a:r>
          </a:p>
          <a:p>
            <a:pPr marL="0" indent="0">
              <a:buNone/>
            </a:pPr>
            <a:endParaRPr lang="en-US" sz="4400" dirty="0">
              <a:solidFill>
                <a:srgbClr val="002060"/>
              </a:solidFill>
            </a:endParaRPr>
          </a:p>
          <a:p>
            <a:pPr marL="0" indent="0">
              <a:buNone/>
            </a:pPr>
            <a:r>
              <a:rPr lang="en-US" sz="3200" dirty="0"/>
              <a:t>Thank you for your attention </a:t>
            </a:r>
          </a:p>
          <a:p>
            <a:pPr marL="0" indent="0">
              <a:buNone/>
            </a:pPr>
            <a:r>
              <a:rPr lang="en-US" sz="3200" dirty="0"/>
              <a:t>Feel free to ask any questions</a:t>
            </a:r>
            <a:endParaRPr lang="en-IN" sz="3200" dirty="0"/>
          </a:p>
        </p:txBody>
      </p:sp>
    </p:spTree>
    <p:extLst>
      <p:ext uri="{BB962C8B-B14F-4D97-AF65-F5344CB8AC3E}">
        <p14:creationId xmlns:p14="http://schemas.microsoft.com/office/powerpoint/2010/main" val="3297491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445</TotalTime>
  <Words>1393</Words>
  <Application>Microsoft Office PowerPoint</Application>
  <PresentationFormat>Widescreen</PresentationFormat>
  <Paragraphs>127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Britannic Bold</vt:lpstr>
      <vt:lpstr>Franklin Gothic Medium</vt:lpstr>
      <vt:lpstr>Wingdings</vt:lpstr>
      <vt:lpstr>Medical Design 16x9</vt:lpstr>
      <vt:lpstr>Heart Risk Analysis</vt:lpstr>
      <vt:lpstr>Dataset Overview</vt:lpstr>
      <vt:lpstr>Dataset Overview</vt:lpstr>
      <vt:lpstr>Column Details</vt:lpstr>
      <vt:lpstr>Column Details</vt:lpstr>
      <vt:lpstr>Column Details</vt:lpstr>
      <vt:lpstr>Lifestyle Risk Factors</vt:lpstr>
      <vt:lpstr>Health Indicators And Heart Metrics</vt:lpstr>
      <vt:lpstr>Heatmap Correlation</vt:lpstr>
      <vt:lpstr>Correlation Insights</vt:lpstr>
      <vt:lpstr>Key Visual Insights On Heart Disease Risk</vt:lpstr>
      <vt:lpstr>Key Visual Insights On Heart Disease Risk</vt:lpstr>
      <vt:lpstr>Key Visual Insights On Heart Disease Risk</vt:lpstr>
      <vt:lpstr>Key Visual Insights On Heart Disease Risk</vt:lpstr>
      <vt:lpstr>Key Visual Insights On Heart Disease Risk</vt:lpstr>
      <vt:lpstr>Conclusion</vt:lpstr>
      <vt:lpstr>Tools Used</vt:lpstr>
      <vt:lpstr>Ending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anima sharma</dc:creator>
  <cp:lastModifiedBy>anima sharma</cp:lastModifiedBy>
  <cp:revision>7</cp:revision>
  <dcterms:created xsi:type="dcterms:W3CDTF">2025-10-06T14:50:18Z</dcterms:created>
  <dcterms:modified xsi:type="dcterms:W3CDTF">2025-11-17T08:43:53Z</dcterms:modified>
</cp:coreProperties>
</file>